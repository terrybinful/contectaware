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6"/>
  </p:notes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85" autoAdjust="0"/>
    <p:restoredTop sz="78897" autoAdjust="0"/>
  </p:normalViewPr>
  <p:slideViewPr>
    <p:cSldViewPr snapToGrid="0">
      <p:cViewPr varScale="1">
        <p:scale>
          <a:sx n="98" d="100"/>
          <a:sy n="98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0E689-DFE1-41B9-AC4E-B102A5C5CE4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9A9B3-F25A-4616-AE2C-C602E771F7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08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question is narrow and testable: when a continuous</a:t>
            </a:r>
          </a:p>
          <a:p>
            <a:r>
              <a:t>authentication system turns noisy scores into an authenticated or locked state,</a:t>
            </a:r>
          </a:p>
          <a:p>
            <a:r>
              <a:t>does the margin borrowed from cellular handover add anything beyond simply</a:t>
            </a:r>
          </a:p>
          <a:p>
            <a:r>
              <a:t>requiring evidence to persist?</a:t>
            </a:r>
          </a:p>
          <a:p/>
          <a:p>
            <a:r>
              <a:t>I will give the answer first. It did not. Under a preregistered test it produced no</a:t>
            </a:r>
          </a:p>
          <a:p>
            <a:r>
              <a:t>measurable stability gain, and it locked the genuine user out more often than a</a:t>
            </a:r>
          </a:p>
          <a:p>
            <a:r>
              <a:t>plain dwell. Let me show you why the question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rests on this distinction. A classifier gives a score per frame; a phone</a:t>
            </a:r>
          </a:p>
          <a:p>
            <a:r>
              <a:t>has to hold a state. Turning one into the other is a design decision, and it is</a:t>
            </a:r>
          </a:p>
          <a:p>
            <a:r>
              <a:t>usually left implicit.</a:t>
            </a:r>
          </a:p>
          <a:p/>
          <a:p>
            <a:r>
              <a:t>The two ribbons are a schematic - I have labelled them, they are not data. Same</a:t>
            </a:r>
          </a:p>
          <a:p>
            <a:r>
              <a:t>user, same scores. The top row reverses eight times because the score sits near the</a:t>
            </a:r>
          </a:p>
          <a:p>
            <a:r>
              <a:t>threshold. The bottom row requires persistence and changes once.</a:t>
            </a:r>
          </a:p>
          <a:p/>
          <a:p>
            <a:r>
              <a:t>The consequence is that AUC cannot see the difference: it ranks frames and ignores</a:t>
            </a:r>
          </a:p>
          <a:p>
            <a:r>
              <a:t>their order. A system can score well and still behave badly.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narrow and I do not want to overstate it. It is not true that nobody has</a:t>
            </a:r>
          </a:p>
          <a:p>
            <a:r>
              <a:t>compared decision layers.</a:t>
            </a:r>
          </a:p>
          <a:p/>
          <a:p>
            <a:r>
              <a:t>What is missing is one contrast. Zeeshan and colleagues justify smoothing in exactly</a:t>
            </a:r>
          </a:p>
          <a:p>
            <a:r>
              <a:t>the words quoted, but never isolate it and never test a margin. Mondal and Bours do</a:t>
            </a:r>
          </a:p>
          <a:p>
            <a:r>
              <a:t>compare decision layers, but vary four factors at once and report action-domain</a:t>
            </a:r>
          </a:p>
          <a:p>
            <a:r>
              <a:t>measures rather than holding a common operating point. Sugrim and colleagues supply</a:t>
            </a:r>
          </a:p>
          <a:p>
            <a:r>
              <a:t>the missing piece: comparing at equal error rates tells an implementer nothing when</a:t>
            </a:r>
          </a:p>
          <a:p>
            <a:r>
              <a:t>they have a fixed false-accept requirement.</a:t>
            </a:r>
          </a:p>
          <a:p/>
          <a:p>
            <a:r>
              <a:t>So the defensible question is the one in the box - does the margin add anything to</a:t>
            </a:r>
          </a:p>
          <a:p>
            <a:r>
              <a:t>dwell, tuned equally, on one score stream, at one operating point?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analogy is where the idea comes from, so it needs a boundary.</a:t>
            </a:r>
          </a:p>
          <a:p/>
          <a:p>
            <a:r>
              <a:t>Two things transfer. Both domains face noisy evidence arriving in sequence, and in</a:t>
            </a:r>
          </a:p>
          <a:p>
            <a:r>
              <a:t>both a reversal is expensive. That gives the same responsiveness-against-stability</a:t>
            </a:r>
          </a:p>
          <a:p>
            <a:r>
              <a:t>tension.</a:t>
            </a:r>
          </a:p>
          <a:p/>
          <a:p>
            <a:r>
              <a:t>What does not transfer is at the bottom. Handover arbitrates between radio links</a:t>
            </a:r>
          </a:p>
          <a:p>
            <a:r>
              <a:t>that are interchangeable. Authentication weighs identity hypotheses where the errors</a:t>
            </a:r>
          </a:p>
          <a:p>
            <a:r>
              <a:t>are asymmetric - a false accept is a security failure, a false reject is an</a:t>
            </a:r>
          </a:p>
          <a:p>
            <a:r>
              <a:t>annoyance.</a:t>
            </a:r>
          </a:p>
          <a:p/>
          <a:p>
            <a:r>
              <a:t>One terminology point for the rest of the talk: in 3GPP, hysteresis is the margin</a:t>
            </a:r>
          </a:p>
          <a:p>
            <a:r>
              <a:t>and time-to-trigger is the dwell. So I never call the composed policy hysteresis.</a:t>
            </a:r>
          </a:p>
          <a:p>
            <a:r>
              <a:t>Telling those two apart is the whole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experimental contract, and it is what I would hold on to when judging</a:t>
            </a:r>
          </a:p>
          <a:p>
            <a:r>
              <a:t>the results.</a:t>
            </a:r>
          </a:p>
          <a:p/>
          <a:p>
            <a:r>
              <a:t>On the left is one real test sequence: sixty genuine frames, sixty from an impostor</a:t>
            </a:r>
          </a:p>
          <a:p>
            <a:r>
              <a:t>neither the model nor the calibration has seen, then sixty of the genuine user</a:t>
            </a:r>
          </a:p>
          <a:p>
            <a:r>
              <a:t>returning. The rows below are the state under three policies on that identical</a:t>
            </a:r>
          </a:p>
          <a:p>
            <a:r>
              <a:t>stream.</a:t>
            </a:r>
          </a:p>
          <a:p/>
          <a:p>
            <a:r>
              <a:t>The critical choice is that the score stream is frozen. Every mechanism reads the</a:t>
            </a:r>
          </a:p>
          <a:p>
            <a:r>
              <a:t>same stored scores, so any difference belongs to the decision rule and cannot be a</a:t>
            </a:r>
          </a:p>
          <a:p>
            <a:r>
              <a:t>retrained classifier.</a:t>
            </a:r>
          </a:p>
          <a:p/>
          <a:p>
            <a:r>
              <a:t>The outcome measure falls out of the structure: a correct trace has exactly two</a:t>
            </a:r>
          </a:p>
          <a:p>
            <a:r>
              <a:t>state changes, so anything beyond two is excess. One caveat - these are real</a:t>
            </a:r>
          </a:p>
          <a:p>
            <a:r>
              <a:t>observations composed into a fixed structure, not observed takeovers.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is deliberately plain. Two factors, a margin and a dwell, crossed to give</a:t>
            </a:r>
          </a:p>
          <a:p>
            <a:r>
              <a:t>the four cells on the left. The one in red is the policy under test.</a:t>
            </a:r>
          </a:p>
          <a:p/>
          <a:p>
            <a:r>
              <a:t>Two things protect it. Every parameter is chosen on calibration data only, at a five</a:t>
            </a:r>
          </a:p>
          <a:p>
            <a:r>
              <a:t>per cent false-accept target with a preregistered feasible band - the test data never</a:t>
            </a:r>
          </a:p>
          <a:p>
            <a:r>
              <a:t>touches the threshold, the cell, or who is included. And the participant is the unit</a:t>
            </a:r>
          </a:p>
          <a:p>
            <a:r>
              <a:t>of inference, so I am not treating a hundred and eighty frames from one person as</a:t>
            </a:r>
          </a:p>
          <a:p>
            <a:r>
              <a:t>independent.</a:t>
            </a:r>
          </a:p>
          <a:p/>
          <a:p>
            <a:r>
              <a:t>On the right are the three criteria I fixed in advance. They must hold against both</a:t>
            </a:r>
          </a:p>
          <a:p>
            <a:r>
              <a:t>components. Note criterion two: false rejection must not rise by more than two</a:t>
            </a:r>
          </a:p>
          <a:p>
            <a:r>
              <a:t>points. That one decides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result, so I will take it slowly.</a:t>
            </a:r>
          </a:p>
          <a:p/>
          <a:p>
            <a:r>
              <a:t>Read the p-values first. Both are nought point six nine, so the stability criterion</a:t>
            </a:r>
          </a:p>
          <a:p>
            <a:r>
              <a:t>fails against both components. But be precise about what that means: failure to</a:t>
            </a:r>
          </a:p>
          <a:p>
            <a:r>
              <a:t>reject is not proof of equivalence. On its own this could just mean I lacked power,</a:t>
            </a:r>
          </a:p>
          <a:p>
            <a:r>
              <a:t>and I will show you shortly that I probably did.</a:t>
            </a:r>
          </a:p>
          <a:p/>
          <a:p>
            <a:r>
              <a:t>The stronger evidence is the red row. Against dwell alone, adding the margin raises</a:t>
            </a:r>
          </a:p>
          <a:p>
            <a:r>
              <a:t>false rejection by seven point four points, interval three point two to eleven point</a:t>
            </a:r>
          </a:p>
          <a:p>
            <a:r>
              <a:t>nine. I prespecified a limit of two. The whole interval sits above it. So this is not</a:t>
            </a:r>
          </a:p>
          <a:p>
            <a:r>
              <a:t>an underpowered null - it is a positive finding in the wrong direction.</a:t>
            </a:r>
          </a:p>
          <a:p/>
          <a:p>
            <a:r>
              <a:t>Hence the verdict in the box, which was also fixed in advance. And one number hints</a:t>
            </a:r>
          </a:p>
          <a:p>
            <a:r>
              <a:t>at the power problem: twenty of thirty participants tied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surface at the primary operating point. Margin down the rows,</a:t>
            </a:r>
          </a:p>
          <a:p>
            <a:r>
              <a:t>dwell across; stability on top, lockout below.</a:t>
            </a:r>
          </a:p>
          <a:p/>
          <a:p>
            <a:r>
              <a:t>Take only the shape. Colour lightens down and to the right in the top panel - more</a:t>
            </a:r>
          </a:p>
          <a:p>
            <a:r>
              <a:t>stable - and darkens in the same direction below - more lockout. Same movement. You</a:t>
            </a:r>
          </a:p>
          <a:p>
            <a:r>
              <a:t>cannot buy stability without paying in lockout.</a:t>
            </a:r>
          </a:p>
          <a:p/>
          <a:p>
            <a:r>
              <a:t>The three numbers make it concrete. A dwell of two takes excess transitions from two</a:t>
            </a:r>
          </a:p>
          <a:p>
            <a:r>
              <a:t>point nought to nought point four seven for about one extra point of false rejection.</a:t>
            </a:r>
          </a:p>
          <a:p>
            <a:r>
              <a:t>The most aggressive cell reaches exactly zero - and rejects the genuine user</a:t>
            </a:r>
          </a:p>
          <a:p>
            <a:r>
              <a:t>thirty-six per cent of the time. Zero flips is not success; it is a system that has</a:t>
            </a:r>
          </a:p>
          <a:p>
            <a:r>
              <a:t>stopped responding.</a:t>
            </a:r>
          </a:p>
          <a:p/>
          <a:p>
            <a:r>
              <a:t>Two cautions: that cell rests on eight participants, and these cells are not 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next question is whether some other rule escapes the trade-off. It does</a:t>
            </a:r>
          </a:p>
          <a:p>
            <a:r>
              <a:t>not.</a:t>
            </a:r>
          </a:p>
          <a:p/>
          <a:p>
            <a:r>
              <a:t>Nine mechanisms, same false-accept target. Horizontal is lockout, vertical is</a:t>
            </a:r>
          </a:p>
          <a:p>
            <a:r>
              <a:t>instability, and note the broken axis - instantaneous sits an order of magnitude</a:t>
            </a:r>
          </a:p>
          <a:p>
            <a:r>
              <a:t>above the rest.</a:t>
            </a:r>
          </a:p>
          <a:p/>
          <a:p>
            <a:r>
              <a:t>Two readings. Every temporal mechanism beats instantaneous, so persistence does work.</a:t>
            </a:r>
          </a:p>
          <a:p>
            <a:r>
              <a:t>But nothing reaches the bottom-left corner. The most stable are the most locked out;</a:t>
            </a:r>
          </a:p>
          <a:p>
            <a:r>
              <a:t>the trust model is the extreme, almost perfectly stable while rejecting the genuine</a:t>
            </a:r>
          </a:p>
          <a:p>
            <a:r>
              <a:t>user seventeen per cent of the time.</a:t>
            </a:r>
          </a:p>
          <a:p/>
          <a:p>
            <a:r>
              <a:t>The open markers are the same mechanisms at three and seven per cent, and the short</a:t>
            </a:r>
          </a:p>
          <a:p>
            <a:r>
              <a:t>trails say the ordering is not an artefact of choosing five. I flag SPRT as</a:t>
            </a:r>
          </a:p>
          <a:p>
            <a:r>
              <a:t>exploratory - largest grid, most selection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put the limitations before the contribution because they bound it.</a:t>
            </a:r>
          </a:p>
          <a:p/>
          <a:p>
            <a:r>
              <a:t>The left panel explains the tied participants. Under instantaneous thresholding,</a:t>
            </a:r>
          </a:p>
          <a:p>
            <a:r>
              <a:t>seventy-two per cent of sequences never flip at all, and five participants of thirty</a:t>
            </a:r>
          </a:p>
          <a:p>
            <a:r>
              <a:t>carry two thirds of the instability. For most people a dwell has already removed</a:t>
            </a:r>
          </a:p>
          <a:p>
            <a:r>
              <a:t>everything there was to remove, so there is nothing left for a margin to improve.</a:t>
            </a:r>
          </a:p>
          <a:p>
            <a:r>
              <a:t>That is a power limitation, and it is the honest reading of my null.</a:t>
            </a:r>
          </a:p>
          <a:p/>
          <a:p>
            <a:r>
              <a:t>The right panel is more serious. Strip out location and device state, keep only which</a:t>
            </a:r>
          </a:p>
          <a:p>
            <a:r>
              <a:t>sensors were missing, and mean AUC still sits at nought point seven six.</a:t>
            </a:r>
          </a:p>
          <a:p/>
          <a:p>
            <a:r>
              <a:t>So, explicitly: evidence not established in the project materials for any claim that</a:t>
            </a:r>
          </a:p>
          <a:p>
            <a:r>
              <a:t>this score is behavioural identity independent of context or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close, let me separate the finding from what I think it means.</a:t>
            </a:r>
          </a:p>
          <a:p/>
          <a:p>
            <a:r>
              <a:t>The evidence is a preregistered null plus a directional failure: no stability gain</a:t>
            </a:r>
          </a:p>
          <a:p>
            <a:r>
              <a:t>against either component, and a false-rejection penalty against dwell that breaks the</a:t>
            </a:r>
          </a:p>
          <a:p>
            <a:r>
              <a:t>bound I set in advance.</a:t>
            </a:r>
          </a:p>
          <a:p/>
          <a:p>
            <a:r>
              <a:t>My interpretation is that persistence is the part of the analogy that transfers.</a:t>
            </a:r>
          </a:p>
          <a:p>
            <a:r>
              <a:t>Requiring evidence to hold works; the margin, here, mostly converts instability into</a:t>
            </a:r>
          </a:p>
          <a:p>
            <a:r>
              <a:t>lockout.</a:t>
            </a:r>
          </a:p>
          <a:p/>
          <a:p>
            <a:r>
              <a:t>The recommendation is the part I would defend hardest: evaluate the decision layer</a:t>
            </a:r>
          </a:p>
          <a:p>
            <a:r>
              <a:t>separately from the classifier, and never report a stability number alone - report it</a:t>
            </a:r>
          </a:p>
          <a:p>
            <a:r>
              <a:t>with false accepts, false rejects and recovery, or a policy that has simply stopped</a:t>
            </a:r>
          </a:p>
          <a:p>
            <a:r>
              <a:t>responding will look like your best one.</a:t>
            </a:r>
          </a:p>
          <a:p/>
          <a:p>
            <a:r>
              <a:t>So, bounded to this dataset and protocol: the margin did not earn its place. Thank</a:t>
            </a:r>
          </a:p>
          <a:p>
            <a:r>
              <a:t>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72"/>
          <a:stretch>
            <a:fillRect/>
          </a:stretch>
        </p:blipFill>
        <p:spPr bwMode="auto">
          <a:xfrm>
            <a:off x="600075" y="4949825"/>
            <a:ext cx="7858125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989138" y="5602288"/>
            <a:ext cx="6477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r>
              <a:rPr lang="en-US" altLang="en-US" sz="1800" dirty="0">
                <a:solidFill>
                  <a:srgbClr val="002060"/>
                </a:solidFill>
                <a:latin typeface="Tw Cen MT" panose="020B0602020104020603" pitchFamily="34" charset="0"/>
              </a:rPr>
              <a:t>College of Basic and Applied Sciences</a:t>
            </a:r>
          </a:p>
          <a:p>
            <a:pPr defTabSz="914400"/>
            <a:r>
              <a:rPr lang="en-US" altLang="en-US" sz="1800" b="1" dirty="0">
                <a:solidFill>
                  <a:srgbClr val="002060"/>
                </a:solidFill>
                <a:latin typeface="Tw Cen MT" panose="020B0602020104020603" pitchFamily="34" charset="0"/>
              </a:rPr>
              <a:t>School of Physical and Mathematical Sciences</a:t>
            </a:r>
          </a:p>
        </p:txBody>
      </p:sp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7010400" y="6362700"/>
            <a:ext cx="2133600" cy="390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1989138" y="6172200"/>
            <a:ext cx="312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r>
              <a:rPr lang="en-US" altLang="en-US" sz="1400" dirty="0">
                <a:solidFill>
                  <a:srgbClr val="002060"/>
                </a:solidFill>
                <a:latin typeface="Tw Cen MT" panose="020B0602020104020603" pitchFamily="34" charset="0"/>
              </a:rPr>
              <a:t>2025/2026 Academic Year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7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4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797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619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94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625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31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774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800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jpeg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388100"/>
            <a:ext cx="205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128789" y="274638"/>
            <a:ext cx="8873543" cy="114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789" y="1600200"/>
            <a:ext cx="8873543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345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Does the Handover Margin Earn Its Place?</a:t>
            </a:r>
          </a:p>
          <a:p>
            <a:pPr algn="ctr">
              <a:lnSpc>
                <a:spcPct val="105000"/>
              </a:lnSpc>
              <a:spcBef>
                <a:spcPts val="800"/>
              </a:spcBef>
            </a:pPr>
            <a:r>
              <a:rPr sz="1900" b="0" i="0">
                <a:solidFill>
                  <a:srgbClr val="FFFFFF"/>
                </a:solidFill>
                <a:latin typeface="Calibri"/>
              </a:rPr>
              <a:t>A Factorial Comparison of Temporal Decision Policies for Context-Based Continuous Smartphone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0" y="2395728"/>
            <a:ext cx="2560320" cy="32004"/>
          </a:xfrm>
          <a:prstGeom prst="rect">
            <a:avLst/>
          </a:prstGeom>
          <a:solidFill>
            <a:srgbClr val="B2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15184"/>
            <a:ext cx="7498079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800" b="0" i="1">
                <a:solidFill>
                  <a:srgbClr val="E8DCC8"/>
                </a:solidFill>
                <a:latin typeface="Calibri"/>
              </a:rPr>
              <a:t>The margin did not earn its place: a short dwell captured most of the measurable stabilisation, at lower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7498079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MSc Computer Science  |  CSCD 601  |  Dissertation Viva</a:t>
            </a:r>
          </a:p>
          <a:p>
            <a:pPr algn="ctr">
              <a:lnSpc>
                <a:spcPct val="95000"/>
              </a:lnSpc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Candidate: [Name]     Student ID: 22427613     Supervisor: [Supervisor]</a:t>
            </a:r>
          </a:p>
          <a:p>
            <a:pPr algn="ctr">
              <a:lnSpc>
                <a:spcPct val="95000"/>
              </a:lnSpc>
              <a:spcBef>
                <a:spcPts val="600"/>
              </a:spcBef>
            </a:pPr>
            <a:r>
              <a:rPr sz="1300" b="0" i="0">
                <a:solidFill>
                  <a:srgbClr val="C8C8D8"/>
                </a:solidFill>
                <a:latin typeface="Calibri"/>
              </a:rPr>
              <a:t>Department of Computer Science  |  27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Scores are not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06908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0" i="0">
                <a:solidFill>
                  <a:srgbClr val="000000"/>
                </a:solidFill>
                <a:latin typeface="Calibri"/>
              </a:rPr>
              <a:t>A classifier emits a score every frame. A device must hold a persistent state: authenticated, or locked.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2100" b="0" i="0">
                <a:solidFill>
                  <a:srgbClr val="000000"/>
                </a:solidFill>
                <a:latin typeface="Calibri"/>
              </a:rPr>
              <a:t>Scores that sit near the threshold make the state flicker even when the user has not changed.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2100" b="0" i="0">
                <a:solidFill>
                  <a:srgbClr val="000000"/>
                </a:solidFill>
                <a:latin typeface="Calibri"/>
              </a:rPr>
              <a:t>A high AUC cannot detect this. AUC ranks frames; it says nothing about the behaviour of the state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3168" y="176479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000066"/>
                </a:solidFill>
                <a:latin typeface="Calibri"/>
              </a:rPr>
              <a:t>Instantaneous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77316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102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8888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4674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460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6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032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7818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3604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9390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1768" y="2057400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962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748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534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3208" y="2057400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468880"/>
            <a:ext cx="3840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8 state changes  -  same user, same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971800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000066"/>
                </a:solidFill>
                <a:latin typeface="Calibri"/>
              </a:rPr>
              <a:t>With a persistence requirement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7316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102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8888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4674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460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246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0328" y="3264408"/>
            <a:ext cx="245059" cy="384048"/>
          </a:xfrm>
          <a:prstGeom prst="rect">
            <a:avLst/>
          </a:prstGeom>
          <a:solidFill>
            <a:srgbClr val="000066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7818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3604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390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6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0962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748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534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3208" y="3264408"/>
            <a:ext cx="2450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675888"/>
            <a:ext cx="3840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1 state change  -  same user, same 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617720"/>
            <a:ext cx="38404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Filled = authenticated.  Illustrative schematic, not measured data; real traces appear on the next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The gap and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000000"/>
                </a:solidFill>
                <a:latin typeface="Calibri"/>
              </a:rPr>
              <a:t>Stabilisation is usually asserted, not decomposed. Zeeshan et al. (2025) use EWMA "to stabilize decisions and avoid flickering" - without isolating its effect.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Calibri"/>
              </a:rPr>
              <a:t>Mondal and Bours (2015) do compare decision layers, but sweep four factors together and report action-domain measures, not a matched-operating-point contrast.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Calibri"/>
              </a:rPr>
              <a:t>Sugrim et al. (2019) show why equal-error-rate comparison is uninformative when a system has a fixed false-accept requirement.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443984"/>
            <a:ext cx="8229600" cy="126187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B2875A"/>
                </a:solidFill>
                <a:latin typeface="Calibri"/>
              </a:rPr>
              <a:t>Research question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At a calibration-defined decision-layer FAR target, does adding a handover-inspired margin to temporal dwell reduce excess authentication-state transitions without unacceptable false rejection or detection failure?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727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novelty claimed is the decomposition, not the classifier, the dataset, or temporal smoothing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What transfers from handover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977639" cy="42062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Cellular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39696"/>
            <a:ext cx="3977639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Switch when a neighbour cell exceeds the serving cell by a hysteresis margin, and holds that lead for a time-to-trigger.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9" y="1645920"/>
            <a:ext cx="3977639" cy="42062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Continuous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59" y="2139696"/>
            <a:ext cx="3977639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Change state when the score crosses a dual threshold, and stays across k consecutive frames.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10128"/>
            <a:ext cx="8229600" cy="1078992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000066"/>
                </a:solidFill>
                <a:latin typeface="Calibri"/>
              </a:rPr>
              <a:t>Shared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Noisy sequential evidence  -  costly state reversals  -  a responsiveness against stability trade-off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98848"/>
            <a:ext cx="8229600" cy="1170432"/>
          </a:xfrm>
          <a:prstGeom prst="rect">
            <a:avLst/>
          </a:prstGeom>
          <a:noFill/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C0504D"/>
                </a:solidFill>
                <a:latin typeface="Calibri"/>
              </a:rPr>
              <a:t>Not shared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Handover arbitrates competing radio links. Authentication weighs identity hypotheses, where false accept and false reject are asymmetric security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727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Terminology: in the analogy the hysteresis term is the margin; time-to-trigger is the dwell. The composed policy is called margin + dwell.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The evaluation contract</a:t>
            </a:r>
          </a:p>
        </p:txBody>
      </p:sp>
      <p:pic>
        <p:nvPicPr>
          <p:cNvPr id="3" name="Picture 2" descr="fig5_sequence_schemati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48467"/>
            <a:ext cx="3246120" cy="4193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6200" y="1691640"/>
            <a:ext cx="48463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ExtraSensory, 31-participant regular-cadence cohort. Chronological enrolment, calibration and test partitions; final-test impostors unseen during fitting and calibration.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One frozen per-user gradient-boosting score stream. Every policy is replayed offline on identical scores, so any difference is the decision rule, not the classifier.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Each test sequence: 60 genuine, 60 unseen-impostor, 60 recovery frames.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5010912"/>
            <a:ext cx="4846320" cy="969264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0066"/>
                </a:solidFill>
                <a:latin typeface="Calibri"/>
              </a:rPr>
              <a:t>A correct trace needs exactly two state changes. Anything beyond that is an excess transition.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727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Figure 5. Controlled identity-transition sequence, real observations, composed to a fixed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Design and preregistered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4343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00" b="1" i="0">
                <a:solidFill>
                  <a:srgbClr val="000066"/>
                </a:solidFill>
                <a:latin typeface="Calibri"/>
              </a:rPr>
              <a:t>margin m ∈ {0, 0.05, 0.10, 0.20}   ×   dwell k ∈ {1, 2, 3, 5, 10}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83664"/>
            <a:ext cx="2057400" cy="841248"/>
          </a:xfrm>
          <a:prstGeom prst="rect">
            <a:avLst/>
          </a:prstGeom>
          <a:noFill/>
          <a:ln w="12700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000066"/>
                </a:solidFill>
                <a:latin typeface="Calibri"/>
              </a:rPr>
              <a:t>Instantaneous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m = 0,  k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5768" y="1883664"/>
            <a:ext cx="2057400" cy="841248"/>
          </a:xfrm>
          <a:prstGeom prst="rect">
            <a:avLst/>
          </a:prstGeom>
          <a:noFill/>
          <a:ln w="12700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000066"/>
                </a:solidFill>
                <a:latin typeface="Calibri"/>
              </a:rPr>
              <a:t>Dwell only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m = 0,  k &gt;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057400" cy="841248"/>
          </a:xfrm>
          <a:prstGeom prst="rect">
            <a:avLst/>
          </a:prstGeom>
          <a:noFill/>
          <a:ln w="12700"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000066"/>
                </a:solidFill>
                <a:latin typeface="Calibri"/>
              </a:rPr>
              <a:t>Margin only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m &gt; 0,  k 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5768" y="2926080"/>
            <a:ext cx="2057400" cy="841248"/>
          </a:xfrm>
          <a:prstGeom prst="rect">
            <a:avLst/>
          </a:prstGeom>
          <a:noFill/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C0504D"/>
                </a:solidFill>
                <a:latin typeface="Calibri"/>
              </a:rPr>
              <a:t>Margin + dwell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95959"/>
                </a:solidFill>
                <a:latin typeface="Calibri"/>
              </a:rPr>
              <a:t>m &gt; 0,  k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13632"/>
            <a:ext cx="431596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Parameters chosen on calibration data only, at a calibration-defined decision-layer FAR target of 0.05 (feasible band 0.04-0.05).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00000"/>
                </a:solidFill>
                <a:latin typeface="Calibri"/>
              </a:rPr>
              <a:t>The participant is the unit of inference; paired tests, Holm-corrected.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83080"/>
            <a:ext cx="3611880" cy="402336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Margin + dwell earns its place only 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304288"/>
            <a:ext cx="3611880" cy="658368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1.  fewer excess transitions after Holm correction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090672"/>
            <a:ext cx="3611880" cy="658368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2.  FRR non-inferior: CI upper bound below +0.02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877056"/>
            <a:ext cx="3611880" cy="658368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3.  detection failure non-inferior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736592"/>
            <a:ext cx="3611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500" b="1" i="0">
                <a:solidFill>
                  <a:srgbClr val="000066"/>
                </a:solidFill>
                <a:latin typeface="Calibri"/>
              </a:rPr>
              <a:t>against BOTH dwell only and margin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727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Rules, grids, outcomes and the verdict wording were frozen before the confirmatory score dumps existed.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Primary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682496"/>
          <a:ext cx="78181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201168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18288" marB="18288" anchor="ctr"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vs dwell only</a:t>
                      </a:r>
                    </a:p>
                  </a:txBody>
                  <a:tcPr marL="73152" marR="73152" marT="18288" marB="18288" anchor="ctr"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vs margin only</a:t>
                      </a:r>
                    </a:p>
                  </a:txBody>
                  <a:tcPr marL="73152" marR="73152" marT="18288" marB="18288" anchor="ctr">
                    <a:solidFill>
                      <a:srgbClr val="00006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Participants paired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Excess transitions, mean paired difference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-0.20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Median paired difference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Holm-adjusted p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FRR difference [95% CI]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504D"/>
                          </a:solidFill>
                          <a:latin typeface="Calibri"/>
                        </a:rPr>
                        <a:t>+0.074  [0.032, 0.119]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+0.030  [-0.008, 0.069]</a:t>
                      </a:r>
                    </a:p>
                  </a:txBody>
                  <a:tcPr marL="73152" marR="73152" marT="18288" marB="18288" anchor="ctr">
                    <a:solidFill>
                      <a:srgbClr val="EFEC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Detection-failure difference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58368" y="4315968"/>
            <a:ext cx="7818120" cy="93268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Margin plus dwell offers no measurable advantage over its components on this benchmark, and is FRR-inferior to dwell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76672"/>
            <a:ext cx="781812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Against dwell, 20 of 30 participants tied exactly. The +0.074 FRR penalty breaches the preregistered +0.02 bound.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Source: primary/primary_tests.csv, target FAR 0.05.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Reading the surface</a:t>
            </a:r>
          </a:p>
        </p:txBody>
      </p:sp>
      <p:pic>
        <p:nvPicPr>
          <p:cNvPr id="3" name="Picture 2" descr="fig1_factorial_surfac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0" y="1627632"/>
            <a:ext cx="267072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0" y="1737360"/>
            <a:ext cx="5230368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0066"/>
                </a:solidFill>
                <a:latin typeface="Calibri"/>
              </a:rPr>
              <a:t>Stability improves down and to the right. Lockout worsens along the same direction.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Instantaneous (0, 1):  2.012 excess transitions, FRR 0.042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Dwell (0, 2):  0.466 excess transitions, FRR 0.052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800" b="0" i="0">
                <a:solidFill>
                  <a:srgbClr val="C0504D"/>
                </a:solidFill>
                <a:latin typeface="Calibri"/>
              </a:rPr>
              <a:t>Margin + dwell (0.20, 2):  0.000 excess, FRR 0.356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4041648"/>
            <a:ext cx="5230368" cy="1188720"/>
          </a:xfrm>
          <a:prstGeom prst="rect">
            <a:avLst/>
          </a:prstGeom>
          <a:noFill/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00000"/>
                </a:solidFill>
                <a:latin typeface="Calibri"/>
              </a:rPr>
              <a:t>Zero flips is not success. The zero-transition cells are supported by as few as 8 participants and reject the genuine user more than a third of the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358384"/>
            <a:ext cx="5230368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0066"/>
                </a:solidFill>
                <a:latin typeface="Calibri"/>
              </a:rPr>
              <a:t>Cells are NOT paired: feasible participant sets differ from 6 to 31. Read the broad shape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Figure 1. Response surface at target FAR 0.05.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No mechanism escapes it</a:t>
            </a:r>
          </a:p>
        </p:txBody>
      </p:sp>
      <p:pic>
        <p:nvPicPr>
          <p:cNvPr id="3" name="Picture 2" descr="fig2_stability_locko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4850"/>
            <a:ext cx="3611880" cy="4105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51960" y="1755648"/>
            <a:ext cx="448056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Nine temporal mechanisms, all calibrated to the same FAR target. Lower left is better.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800" b="1" i="0">
                <a:solidFill>
                  <a:srgbClr val="000066"/>
                </a:solidFill>
                <a:latin typeface="Calibri"/>
              </a:rPr>
              <a:t>Every mechanism beats instantaneous on stability. None dominates on both axes.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800" b="0" i="0">
                <a:solidFill>
                  <a:srgbClr val="000000"/>
                </a:solidFill>
                <a:latin typeface="Calibri"/>
              </a:rPr>
              <a:t>The most stable are the most locked out: margin + dwell 0.20 excess at FRR 0.124; trust model 0.04 at FRR 0.172.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4626864"/>
            <a:ext cx="4480560" cy="82296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0066"/>
                </a:solidFill>
                <a:latin typeface="Calibri"/>
              </a:rPr>
              <a:t>Debounce - a short dwell - is the simplest defensible first intervention.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5541264"/>
            <a:ext cx="44805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1">
                <a:solidFill>
                  <a:srgbClr val="595959"/>
                </a:solidFill>
                <a:latin typeface="Calibri"/>
              </a:rPr>
              <a:t>SPRT is exploratory: it had the largest parameter grid, so the greatest selection opportunity.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Figure 2. Stability-lockout plane; small markers are FAR 0.03 and 0.07.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Threats to validity</a:t>
            </a:r>
          </a:p>
        </p:txBody>
      </p:sp>
      <p:pic>
        <p:nvPicPr>
          <p:cNvPr id="3" name="Picture 2" descr="fig3_instability_concentr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66" y="1645920"/>
            <a:ext cx="2786867" cy="2395728"/>
          </a:xfrm>
          <a:prstGeom prst="rect">
            <a:avLst/>
          </a:prstGeom>
        </p:spPr>
      </p:pic>
      <p:pic>
        <p:nvPicPr>
          <p:cNvPr id="4" name="Picture 3" descr="fig4_score_validity_f3_f7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138" y="1645920"/>
            <a:ext cx="2477123" cy="23957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4169663"/>
            <a:ext cx="3886200" cy="3840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Instability is rare and concentrated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26864"/>
            <a:ext cx="388620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71.7% of instantaneous test sequences never flip. Five of 30 participants carry 65.6% of it. There is little for a margin to improve, which limits power.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4169663"/>
            <a:ext cx="3886200" cy="3840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score is not clean identity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626864"/>
            <a:ext cx="388620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00000"/>
                </a:solidFill>
                <a:latin typeface="Calibri"/>
              </a:rPr>
              <a:t>Removing location and device-state features drops mean AUC from 0.990 to 0.758; paired difference 0.232 [0.191, 0.273].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50992"/>
            <a:ext cx="8229600" cy="548640"/>
          </a:xfrm>
          <a:prstGeom prst="rect">
            <a:avLst/>
          </a:prstGeom>
          <a:noFill/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0504D"/>
                </a:solidFill>
                <a:latin typeface="Calibri"/>
              </a:rPr>
              <a:t>ExtraSensory is a context-recognition dataset, not an authentication dataset. The sequences are real observations, composed - not observed takeovers.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latin typeface="Calibri"/>
              </a:rPr>
              <a:t>Contribution and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00784"/>
            <a:ext cx="2103120" cy="10607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912" y="1737360"/>
            <a:ext cx="5961888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A preregistered null: no stability gain from the margin (p = 0.69 against both components), and an FRR penalty of +0.074 against dwell that breaches the +0.02 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07792"/>
            <a:ext cx="2103120" cy="10607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912" y="2944368"/>
            <a:ext cx="5961888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Persistence is what transfers from handover. The margin does not add measurable value here - it converts instability into lockout.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2103120" cy="10607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2" y="4151376"/>
            <a:ext cx="5961888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000000"/>
                </a:solidFill>
                <a:latin typeface="Calibri"/>
              </a:rPr>
              <a:t>Evaluate the decision layer separately from the classifier, and always report excess transitions with FAR, FRR and recovery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58384"/>
            <a:ext cx="8229600" cy="32004"/>
          </a:xfrm>
          <a:prstGeom prst="rect">
            <a:avLst/>
          </a:prstGeom>
          <a:solidFill>
            <a:srgbClr val="B2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8229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2200" b="1" i="0">
                <a:solidFill>
                  <a:srgbClr val="000066"/>
                </a:solidFill>
                <a:latin typeface="Calibri"/>
              </a:rPr>
              <a:t>The margin did not earn its place on this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UG_Template1</Template>
  <TotalTime>14397</TotalTime>
  <Words>29</Words>
  <Application>Microsoft Macintosh PowerPoint</Application>
  <PresentationFormat>On-screen Show (4:3)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Myriad Pro</vt:lpstr>
      <vt:lpstr>Times New Roman</vt:lpstr>
      <vt:lpstr>Tw Cen MT</vt:lpstr>
      <vt:lpstr>2_Office Theme</vt:lpstr>
      <vt:lpstr>CSCD 606 Bioinformatics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</dc:creator>
  <cp:lastModifiedBy>Prof. Kofi S. Adu-Manu</cp:lastModifiedBy>
  <cp:revision>21</cp:revision>
  <dcterms:created xsi:type="dcterms:W3CDTF">2021-06-19T20:29:26Z</dcterms:created>
  <dcterms:modified xsi:type="dcterms:W3CDTF">2026-05-07T16:27:31Z</dcterms:modified>
</cp:coreProperties>
</file>