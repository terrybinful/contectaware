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2"/>
    <p:sldId id="320" r:id="rId3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28" r:id="rId17"/>
    <p:sldId id="329" r:id="rId18"/>
    <p:sldId id="330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A"/>
    <a:srgbClr val="B08B57"/>
    <a:srgbClr val="000066"/>
    <a:srgbClr val="006CA1"/>
    <a:srgbClr val="EEEEEE"/>
    <a:srgbClr val="F8F3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97" autoAdjust="0"/>
    <p:restoredTop sz="94684"/>
  </p:normalViewPr>
  <p:slideViewPr>
    <p:cSldViewPr>
      <p:cViewPr varScale="1">
        <p:scale>
          <a:sx n="106" d="100"/>
          <a:sy n="106" d="100"/>
        </p:scale>
        <p:origin x="1616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527F3-EB79-49FF-912B-041B9C4FB81F}" type="datetimeFigureOut">
              <a:rPr lang="en-US" smtClean="0"/>
              <a:pPr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D8CEFE-5176-4370-99E3-0069C87A944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993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1F51EC-9B9E-44A7-B1DF-C15828FE6524}" type="datetimeFigureOut">
              <a:rPr lang="en-US" smtClean="0"/>
              <a:pPr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38A8A1-E2B8-4BD1-8409-EFE61EA494F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407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Good morning. My question is narrow and testable: when a continuous authentication</a:t>
            </a:r>
          </a:p>
          <a:p>
            <a:r>
              <a:t>system turns noisy scores into an authenticated or locked state, does the margin</a:t>
            </a:r>
          </a:p>
          <a:p>
            <a:r>
              <a:t>borrowed from cellular handover add anything beyond simply requiring evidence to</a:t>
            </a:r>
          </a:p>
          <a:p>
            <a:r>
              <a:t>persist?</a:t>
            </a:r>
          </a:p>
          <a:p/>
          <a:p>
            <a:r>
              <a:t>I will give the answer first, because everything after it is the evidence. It did not.</a:t>
            </a:r>
          </a:p>
          <a:p>
            <a:r>
              <a:t>Under a preregistered test it produced no measurable stability gain, and it locked the</a:t>
            </a:r>
          </a:p>
          <a:p>
            <a:r>
              <a:t>genuine user out more often than a plain dwell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38A8A1-E2B8-4BD1-8409-EFE61EA494F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90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Briefly, the route. I start with the problem the study exists to solve, then the</a:t>
            </a:r>
          </a:p>
          <a:p>
            <a:r>
              <a:t>question and the gap it comes from. The methodology and design sections explain how the</a:t>
            </a:r>
          </a:p>
          <a:p>
            <a:r>
              <a:t>comparison was made fair. The results section carries the preregistered test. I then</a:t>
            </a:r>
          </a:p>
          <a:p>
            <a:r>
              <a:t>give the contribution, and I will spend real time on the limitations, because they bound</a:t>
            </a:r>
          </a:p>
          <a:p>
            <a:r>
              <a:t>what I can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rests on this distinction. A classifier gives a score per frame; a phone has</a:t>
            </a:r>
          </a:p>
          <a:p>
            <a:r>
              <a:t>to hold a state. Turning one into the other is a design decision, and it is usually left</a:t>
            </a:r>
          </a:p>
          <a:p>
            <a:r>
              <a:t>implicit.</a:t>
            </a:r>
          </a:p>
          <a:p/>
          <a:p>
            <a:r>
              <a:t>The two ribbons are a schematic - I have labelled them, they are not data. Same user,</a:t>
            </a:r>
          </a:p>
          <a:p>
            <a:r>
              <a:t>same scores. The top row reverses eight times because the score sits near the threshold.</a:t>
            </a:r>
          </a:p>
          <a:p>
            <a:r>
              <a:t>The bottom row requires persistence and changes once.</a:t>
            </a:r>
          </a:p>
          <a:p/>
          <a:p>
            <a:r>
              <a:t>The consequence is in the box: this is a separate design layer, and AUC cannot see it,</a:t>
            </a:r>
          </a:p>
          <a:p>
            <a:r>
              <a:t>because AUC ranks frames and ignores the order they arrive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deliberately narrow. Not whether temporal smoothing works in general, but</a:t>
            </a:r>
          </a:p>
          <a:p>
            <a:r>
              <a:t>whether the specific component borrowed from handover - the margin - earns the cost of</a:t>
            </a:r>
          </a:p>
          <a:p>
            <a:r>
              <a:t>adding it to a dwell rule.</a:t>
            </a:r>
          </a:p>
          <a:p/>
          <a:p>
            <a:r>
              <a:t>Four objectives, each defensible with evidence later: decompose the two factors under</a:t>
            </a:r>
          </a:p>
          <a:p>
            <a:r>
              <a:t>equal tuning; choose every parameter on calibration data only; evaluate at participant</a:t>
            </a:r>
          </a:p>
          <a:p>
            <a:r>
              <a:t>level across a vector of outcomes rather than accuracy alone; and test whether the score</a:t>
            </a:r>
          </a:p>
          <a:p>
            <a:r>
              <a:t>itself means what we want it to mean. That fourth one turns out to matter.</a:t>
            </a:r>
          </a:p>
          <a:p/>
          <a:p>
            <a:r>
              <a:t>Note the scope line: I exclude any claim about biometric identity, for reasons I will</a:t>
            </a:r>
          </a:p>
          <a:p>
            <a:r>
              <a:t>come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has to be stated carefully because it is narrow.</a:t>
            </a:r>
          </a:p>
          <a:p/>
          <a:p>
            <a:r>
              <a:t>Zeeshan and colleagues justify smoothing in exactly the words quoted, but never isolate</a:t>
            </a:r>
          </a:p>
          <a:p>
            <a:r>
              <a:t>it. Mondal and Bours do compare decision layers - so it is not true that nobody has - but</a:t>
            </a:r>
          </a:p>
          <a:p>
            <a:r>
              <a:t>they vary four factors at once and report action-domain measures rather than holding a</a:t>
            </a:r>
          </a:p>
          <a:p>
            <a:r>
              <a:t>common operating point. Sugrim and colleagues supply the missing methodological piece,</a:t>
            </a:r>
          </a:p>
          <a:p>
            <a:r>
              <a:t>and Stragapede and colleagues are the warning about what mobile models might really be</a:t>
            </a:r>
          </a:p>
          <a:p>
            <a:r>
              <a:t>learning.</a:t>
            </a:r>
          </a:p>
          <a:p/>
          <a:p>
            <a:r>
              <a:t>So the gap is the red box, and the last line is the claim I will defend: the novelty is</a:t>
            </a:r>
          </a:p>
          <a:p>
            <a:r>
              <a:t>the decomposition, not the classifier or the idea of smoothing.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choices here are all about making the comparison fair rather than making the</a:t>
            </a:r>
          </a:p>
          <a:p>
            <a:r>
              <a:t>result good.</a:t>
            </a:r>
          </a:p>
          <a:p/>
          <a:p>
            <a:r>
              <a:t>ExtraSensory is public and in the wild, but collected for context recognition rather than</a:t>
            </a:r>
          </a:p>
          <a:p>
            <a:r>
              <a:t>authentication - a limitation I return to. The cohort is the participants whose sampling</a:t>
            </a:r>
          </a:p>
          <a:p>
            <a:r>
              <a:t>is regular enough that a dwell of two frames means the same thing for everyone, fixed</a:t>
            </a:r>
          </a:p>
          <a:p>
            <a:r>
              <a:t>before any confirmatory score existed.</a:t>
            </a:r>
          </a:p>
          <a:p/>
          <a:p>
            <a:r>
              <a:t>Three protections against leakage: chronological rather than random partitions,</a:t>
            </a:r>
          </a:p>
          <a:p>
            <a:r>
              <a:t>preprocessing fitted on enrolment only, and final-test impostors held out of both fitting</a:t>
            </a:r>
          </a:p>
          <a:p>
            <a:r>
              <a:t>and calibration.</a:t>
            </a:r>
          </a:p>
          <a:p/>
          <a:p>
            <a:r>
              <a:t>The most important choice is the frozen score stream. Every mechanism reads the same</a:t>
            </a:r>
          </a:p>
          <a:p>
            <a:r>
              <a:t>stored scores, so any difference belongs to the decision rule and cannot be a retrained</a:t>
            </a:r>
          </a:p>
          <a:p>
            <a:r>
              <a:t>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design, and the figure on the left is the contract I would hold on to when</a:t>
            </a:r>
          </a:p>
          <a:p>
            <a:r>
              <a:t>judging the results.</a:t>
            </a:r>
          </a:p>
          <a:p/>
          <a:p>
            <a:r>
              <a:t>One real test sequence: sixty genuine frames, sixty from an unseen impostor, sixty of the</a:t>
            </a:r>
          </a:p>
          <a:p>
            <a:r>
              <a:t>genuine user returning. The three rows below are the state under three policies reading</a:t>
            </a:r>
          </a:p>
          <a:p>
            <a:r>
              <a:t>that identical stream.</a:t>
            </a:r>
          </a:p>
          <a:p/>
          <a:p>
            <a:r>
              <a:t>The rule is deliberately simple. A margin widens the band a score must cross; a dwell</a:t>
            </a:r>
          </a:p>
          <a:p>
            <a:r>
              <a:t>requires k consecutive qualifying frames before the state flips. Crossing the two factors</a:t>
            </a:r>
          </a:p>
          <a:p>
            <a:r>
              <a:t>gives the four cells, and the one in red is the policy under test.</a:t>
            </a:r>
          </a:p>
          <a:p/>
          <a:p>
            <a:r>
              <a:t>The outcome measure falls out of the structure: a correct trace has exactly two state</a:t>
            </a:r>
          </a:p>
          <a:p>
            <a:r>
              <a:t>changes, so anything beyond two is excess.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actually built. A per-user score generator, then a decision layer that replays</a:t>
            </a:r>
          </a:p>
          <a:p>
            <a:r>
              <a:t>stored scores offline. That mattered practically: fitting the models was ninety-two per</a:t>
            </a:r>
          </a:p>
          <a:p>
            <a:r>
              <a:t>cent of the runtime, so dumping the scores once made every later rule change essentially</a:t>
            </a:r>
          </a:p>
          <a:p>
            <a:r>
              <a:t>free - and it is what guarantees all policies see identical evidence.</a:t>
            </a:r>
          </a:p>
          <a:p/>
          <a:p>
            <a:r>
              <a:t>On the right is the executed factorial. Colour lightens down and to the right in the top</a:t>
            </a:r>
          </a:p>
          <a:p>
            <a:r>
              <a:t>panel, meaning more stable, and darkens in the same direction below, meaning more lockout.</a:t>
            </a:r>
          </a:p>
          <a:p>
            <a:r>
              <a:t>Same movement: you cannot buy stability without paying in lockout.</a:t>
            </a:r>
          </a:p>
          <a:p/>
          <a:p>
            <a:r>
              <a:t>One defect, honestly. A windowed mean disagreed with its reference at exact ties. I fixed</a:t>
            </a:r>
          </a:p>
          <a:p>
            <a:r>
              <a:t>it, added a regression test that fails against the old code, and reran the analysis. One</a:t>
            </a:r>
          </a:p>
          <a:p>
            <a:r>
              <a:t>secondary mechanism only; the preregistered test was unaffected.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result, so I will take it slowly.</a:t>
            </a:r>
          </a:p>
          <a:p/>
          <a:p>
            <a:r>
              <a:t>Read the p-values first. Both are nought point six nine, so the stability criterion fails</a:t>
            </a:r>
          </a:p>
          <a:p>
            <a:r>
              <a:t>against both components. But be precise about what that means: failure to reject is not</a:t>
            </a:r>
          </a:p>
          <a:p>
            <a:r>
              <a:t>proof of equivalence. On its own this could just mean I lacked power, and I will show you</a:t>
            </a:r>
          </a:p>
          <a:p>
            <a:r>
              <a:t>on the next slide but one that I probably did.</a:t>
            </a:r>
          </a:p>
          <a:p/>
          <a:p>
            <a:r>
              <a:t>The stronger evidence is the red row. Against dwell alone, adding the margin raises false</a:t>
            </a:r>
          </a:p>
          <a:p>
            <a:r>
              <a:t>rejection by seven point four points, interval three point two to eleven point nine. I</a:t>
            </a:r>
          </a:p>
          <a:p>
            <a:r>
              <a:t>prespecified a limit of two. The whole interval sits above it. So this is not an</a:t>
            </a:r>
          </a:p>
          <a:p>
            <a:r>
              <a:t>underpowered null - it is a positive finding in the wrong direction.</a:t>
            </a:r>
          </a:p>
          <a:p/>
          <a:p>
            <a:r>
              <a:t>The figure evaluates nine mechanisms at the same target. Every one beats instantaneous</a:t>
            </a:r>
          </a:p>
          <a:p>
            <a:r>
              <a:t>thresholding, so persistence works. But nothing reaches the bottom-left corner, and the</a:t>
            </a:r>
          </a:p>
          <a:p>
            <a:r>
              <a:t>most stable are the most locked out. Note SPRT is exploratory - it had the largest grid,</a:t>
            </a:r>
          </a:p>
          <a:p>
            <a:r>
              <a:t>so the most selection opportunity.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separate the finding from what I think it means, because they are claims of</a:t>
            </a:r>
          </a:p>
          <a:p>
            <a:r>
              <a:t>different strength.</a:t>
            </a:r>
          </a:p>
          <a:p/>
          <a:p>
            <a:r>
              <a:t>The evidence is a preregistered null plus a directional failure. No stability gain</a:t>
            </a:r>
          </a:p>
          <a:p>
            <a:r>
              <a:t>against either component, and a false-rejection penalty against dwell that breaks the</a:t>
            </a:r>
          </a:p>
          <a:p>
            <a:r>
              <a:t>bound I set in advance.</a:t>
            </a:r>
          </a:p>
          <a:p/>
          <a:p>
            <a:r>
              <a:t>My interpretation is that persistence is the part of the handover analogy that actually</a:t>
            </a:r>
          </a:p>
          <a:p>
            <a:r>
              <a:t>transfers. Requiring evidence to hold works. The margin, on this benchmark, mostly</a:t>
            </a:r>
          </a:p>
          <a:p>
            <a:r>
              <a:t>converts instability into lockout.</a:t>
            </a:r>
          </a:p>
          <a:p/>
          <a:p>
            <a:r>
              <a:t>The significance is methodological rather than algorithmic, and that is the part I would</a:t>
            </a:r>
          </a:p>
          <a:p>
            <a:r>
              <a:t>defend hardest. The classifier here is an instrument, not the contribution. What the</a:t>
            </a:r>
          </a:p>
          <a:p>
            <a:r>
              <a:t>project provides is a way to ask whether a decision rule genuinely improves a</a:t>
            </a:r>
          </a:p>
          <a:p>
            <a:r>
              <a:t>continuous-authentication system - and the practical rule at the bottom follows directly:</a:t>
            </a:r>
          </a:p>
          <a:p>
            <a:r>
              <a:t>never report a stability number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put the limitations before the conclusion because they bound it.</a:t>
            </a:r>
          </a:p>
          <a:p/>
          <a:p>
            <a:r>
              <a:t>The left panel explains the tied participants. Seventy-two per cent of sequences never</a:t>
            </a:r>
          </a:p>
          <a:p>
            <a:r>
              <a:t>flip at all, and five participants of thirty carry two thirds of the instability. For</a:t>
            </a:r>
          </a:p>
          <a:p>
            <a:r>
              <a:t>most people a dwell has already removed everything there was to remove, so there is</a:t>
            </a:r>
          </a:p>
          <a:p>
            <a:r>
              <a:t>nothing left for a margin to improve. That is the honest reading of my null.</a:t>
            </a:r>
          </a:p>
          <a:p/>
          <a:p>
            <a:r>
              <a:t>The right panel is more serious. Strip out location and device state, keep only which</a:t>
            </a:r>
          </a:p>
          <a:p>
            <a:r>
              <a:t>sensors were missing, and mean AUC still sits at nought point seven six. So, explicitly:</a:t>
            </a:r>
          </a:p>
          <a:p>
            <a:r>
              <a:t>evidence not established in the project materials for any claim that this score is</a:t>
            </a:r>
          </a:p>
          <a:p>
            <a:r>
              <a:t>behavioural identity independent of context or device.</a:t>
            </a:r>
          </a:p>
          <a:p/>
          <a:p>
            <a:r>
              <a:t>The conclusion is bounded to this dataset and protocol, and the future work follows</a:t>
            </a:r>
          </a:p>
          <a:p>
            <a:r>
              <a:t>straight from those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eight sources that directly support what I have presented, in APA style.</a:t>
            </a:r>
          </a:p>
          <a:p>
            <a:r>
              <a:t>Every one is cited on a slide or underpins a design choice: Mondal and Bours and Sugrim</a:t>
            </a:r>
          </a:p>
          <a:p>
            <a:r>
              <a:t>for the gap, Zeeshan for the claim I am testing, Stragapede for the device confound,</a:t>
            </a:r>
          </a:p>
          <a:p>
            <a:r>
              <a:t>Vaizman for the dataset, Georgiev and Kapoor for the evaluation-validity design, and</a:t>
            </a:r>
          </a:p>
          <a:p>
            <a:r>
              <a:t>Baldwin for the preregistration position. The full list is in the dissertation.</a:t>
            </a:r>
          </a:p>
          <a:p/>
          <a:p>
            <a:r>
              <a:t>Thank you -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</a:blip>
          <a:srcRect/>
          <a:stretch>
            <a:fillRect t="-9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" cstate="print"/>
          <a:srcRect t="16072"/>
          <a:stretch/>
        </p:blipFill>
        <p:spPr>
          <a:xfrm>
            <a:off x="600075" y="4949099"/>
            <a:ext cx="7858125" cy="1223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1988545" y="5602069"/>
            <a:ext cx="6477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Tw Cen MT" panose="020B0602020104020603" pitchFamily="34" charset="0"/>
              </a:rPr>
              <a:t>College of Education</a:t>
            </a:r>
          </a:p>
          <a:p>
            <a:r>
              <a:rPr lang="en-US" b="1" dirty="0">
                <a:solidFill>
                  <a:srgbClr val="002060"/>
                </a:solidFill>
                <a:latin typeface="Tw Cen MT" panose="020B0602020104020603" pitchFamily="34" charset="0"/>
              </a:rPr>
              <a:t>School of Continuing and Distance Education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7010400" y="6362838"/>
            <a:ext cx="2133600" cy="3907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600" y="6393013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988545" y="6172200"/>
            <a:ext cx="3124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kern="1200" dirty="0">
                <a:solidFill>
                  <a:srgbClr val="002060"/>
                </a:solidFill>
                <a:latin typeface="Tw Cen MT" panose="020B0602020104020603" pitchFamily="34" charset="0"/>
                <a:ea typeface="+mn-ea"/>
                <a:cs typeface="+mn-cs"/>
              </a:rPr>
              <a:t>2014/2015 – 2016/2017</a:t>
            </a:r>
          </a:p>
        </p:txBody>
      </p:sp>
    </p:spTree>
    <p:extLst>
      <p:ext uri="{BB962C8B-B14F-4D97-AF65-F5344CB8AC3E}">
        <p14:creationId xmlns:p14="http://schemas.microsoft.com/office/powerpoint/2010/main" val="3097770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2400"/>
            </a:lvl2pPr>
            <a:lvl3pPr>
              <a:defRPr sz="22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B742AE79-170A-4B85-859E-74CA25CF50CE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053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3779F517-E568-4E5B-BC0B-49F7AD69FE2B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196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F4BFB2F8-D43D-4F8A-9775-4D139BF4AEE6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529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36FDC92E-2EAE-4A54-8A34-2DA1FEDC6CA9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458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C638EEC8-AC55-41CB-89D6-72FDDE408435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4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064C9241-9CE5-4A07-BBB7-BE8290261061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845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6824842F-63D0-4DB7-850E-219266D9DBA0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54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508B1279-D2B8-4398-B114-9002116C28E5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4970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FE4A95AD-76A6-4771-89B3-E965563E5103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42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53AA20F2-3C04-4876-8E70-12D323D04960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101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x" type="tx">
  <p:cSld name="tx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>
            <a:spLocks noGrp="1"/>
          </p:cNvSpPr>
          <p:nvPr>
            <p:ph type="body" idx="1"/>
          </p:nvPr>
        </p:nvSpPr>
        <p:spPr>
          <a:xfrm>
            <a:off x="381000" y="1828800"/>
            <a:ext cx="8229600" cy="4830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rtl="0">
              <a:defRPr sz="2400"/>
            </a:lvl1pPr>
            <a:lvl2pPr rtl="0">
              <a:defRPr sz="2400"/>
            </a:lvl2pPr>
            <a:lvl3pPr rtl="0">
              <a:defRPr sz="2400"/>
            </a:lvl3pPr>
            <a:lvl4pPr rtl="0">
              <a:defRPr sz="1800"/>
            </a:lvl4pPr>
            <a:lvl5pPr rtl="0">
              <a:defRPr sz="1800"/>
            </a:lvl5pPr>
            <a:lvl6pPr rtl="0">
              <a:defRPr sz="1800"/>
            </a:lvl6pPr>
            <a:lvl7pPr rtl="0">
              <a:defRPr sz="1800"/>
            </a:lvl7pPr>
            <a:lvl8pPr rtl="0">
              <a:defRPr sz="1800"/>
            </a:lvl8pPr>
            <a:lvl9pPr rtl="0">
              <a:defRPr sz="1800"/>
            </a:lvl9pPr>
          </a:lstStyle>
          <a:p>
            <a:endParaRPr dirty="0"/>
          </a:p>
        </p:txBody>
      </p:sp>
      <p:sp>
        <p:nvSpPr>
          <p:cNvPr id="35" name="Shape 35"/>
          <p:cNvSpPr txBox="1">
            <a:spLocks noGrp="1"/>
          </p:cNvSpPr>
          <p:nvPr>
            <p:ph type="title"/>
          </p:nvPr>
        </p:nvSpPr>
        <p:spPr>
          <a:xfrm>
            <a:off x="457200" y="274637"/>
            <a:ext cx="6705599" cy="9011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l" rtl="0">
              <a:spcBef>
                <a:spcPts val="0"/>
              </a:spcBef>
              <a:buSzPct val="100000"/>
              <a:buFont typeface="Arial"/>
              <a:buNone/>
              <a:defRPr sz="36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/>
          <p:nvPr/>
        </p:nvSpPr>
        <p:spPr>
          <a:xfrm>
            <a:off x="5791200" y="6400800"/>
            <a:ext cx="2895600" cy="36509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spAutoFit/>
          </a:bodyPr>
          <a:lstStyle/>
          <a:p>
            <a:pPr marL="0" marR="0" lvl="0" indent="0" algn="r" rtl="0">
              <a:buNone/>
            </a:pPr>
            <a:r>
              <a:rPr lang="en" sz="700" b="0" i="0" u="none" strike="noStrike" cap="none" baseline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Google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0203163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 cstate="print">
            <a:lum/>
          </a:blip>
          <a:srcRect/>
          <a:stretch>
            <a:fillRect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5" cstate="print"/>
          <a:stretch>
            <a:fillRect/>
          </a:stretch>
        </p:blipFill>
        <p:spPr>
          <a:xfrm>
            <a:off x="7086599" y="6388445"/>
            <a:ext cx="2057401" cy="400291"/>
          </a:xfrm>
          <a:prstGeom prst="rect">
            <a:avLst/>
          </a:prstGeom>
        </p:spPr>
      </p:pic>
      <p:sp useBgFill="1"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4104860" y="6362838"/>
            <a:ext cx="1152940" cy="365125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</a:lstStyle>
          <a:p>
            <a:fld id="{FF4DB397-BAB8-4E1B-8BEF-25B9392B2636}" type="datetime1">
              <a:rPr lang="en-US" smtClean="0"/>
              <a:t>9/13/26</a:t>
            </a:fld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" y="6388445"/>
            <a:ext cx="3124200" cy="365125"/>
          </a:xfrm>
          <a:prstGeom prst="rect">
            <a:avLst/>
          </a:prstGeom>
        </p:spPr>
        <p:txBody>
          <a:bodyPr/>
          <a:lstStyle>
            <a:lvl1pPr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10200" y="6362838"/>
            <a:ext cx="1447800" cy="365125"/>
          </a:xfrm>
          <a:prstGeom prst="rect">
            <a:avLst/>
          </a:prstGeom>
        </p:spPr>
        <p:txBody>
          <a:bodyPr/>
          <a:lstStyle>
            <a:lvl1pPr>
              <a:defRPr sz="1100" b="1"/>
            </a:lvl1pPr>
          </a:lstStyle>
          <a:p>
            <a:r>
              <a:rPr lang="en-US" dirty="0"/>
              <a:t>Slide </a:t>
            </a:r>
            <a:fld id="{FD3DDBF2-094B-4CA4-965C-FB22D307DBD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329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" y="213667"/>
            <a:ext cx="8686800" cy="147002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Arial"/>
              </a:rPr>
              <a:t>Does the Handover Margin Earn Its Place?</a:t>
            </a:r>
          </a:p>
          <a:p>
            <a:pPr algn="ctr">
              <a:lnSpc>
                <a:spcPct val="105000"/>
              </a:lnSpc>
              <a:spcBef>
                <a:spcPts val="700"/>
              </a:spcBef>
            </a:pPr>
            <a:r>
              <a:rPr sz="1600" b="0" i="0">
                <a:solidFill>
                  <a:srgbClr val="FFFFFF"/>
                </a:solidFill>
                <a:latin typeface="Arial"/>
              </a:rPr>
              <a:t>A Factorial Comparison of Temporal Decision Policies for Context-Based Continuous Smartphone Authentication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721114"/>
            <a:ext cx="6400800" cy="609600"/>
          </a:xfrm>
        </p:spPr>
        <p:txBody>
          <a:bodyPr>
            <a:norm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Arial"/>
              </a:rPr>
              <a:t>Postgraduate Final Viva Presentation</a:t>
            </a:r>
          </a:p>
          <a:p>
            <a:pPr algn="ctr"/>
            <a:r>
              <a:rPr sz="2200">
                <a:solidFill>
                  <a:srgbClr val="FFFFFF"/>
                </a:solidFill>
                <a:latin typeface="Arial"/>
              </a:rPr>
              <a:t>Computer Science / Data Science Project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2057400" y="5715000"/>
            <a:ext cx="4495800" cy="732622"/>
          </a:xfrm>
          <a:prstGeom prst="rect">
            <a:avLst/>
          </a:prstGeom>
          <a:solidFill>
            <a:srgbClr val="FFFF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04800" y="3429000"/>
            <a:ext cx="8458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Arial"/>
              </a:rPr>
              <a:t>By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Arial"/>
              </a:rPr>
              <a:t>[Student Name]  |  ID 22427613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FFFFFF"/>
                </a:solidFill>
                <a:latin typeface="Arial"/>
              </a:rPr>
              <a:t>MSc Computer Science  |  Supervisor: [Name]  | 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83664"/>
            <a:ext cx="804672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500" b="0" i="1">
                <a:solidFill>
                  <a:srgbClr val="E4D8C0"/>
                </a:solidFill>
                <a:latin typeface="Arial"/>
              </a:rPr>
              <a:t>Finding: the margin did not earn its place - a short dwell captured most of the measurable stabilisation, at lower cost.</a:t>
            </a:r>
          </a:p>
        </p:txBody>
      </p:sp>
    </p:spTree>
    <p:extLst>
      <p:ext uri="{BB962C8B-B14F-4D97-AF65-F5344CB8AC3E}">
        <p14:creationId xmlns:p14="http://schemas.microsoft.com/office/powerpoint/2010/main" val="920692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49580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700"/>
              </a:spcAft>
              <a:buNone/>
              <a:defRPr sz="2100">
                <a:solidFill>
                  <a:srgbClr val="232323"/>
                </a:solidFill>
                <a:latin typeface="Arial"/>
              </a:defRPr>
            </a:pPr>
            <a:r>
              <a:rPr sz="2000" b="0">
                <a:solidFill>
                  <a:srgbClr val="232323"/>
                </a:solidFill>
                <a:latin typeface="Arial"/>
              </a:rPr>
              <a:t>Background: why a score stream is not an authentication state</a:t>
            </a:r>
            <a:endParaRPr lang="en-GB" sz="2400" dirty="0"/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Aim, objectives and the research question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Related work and the identified gap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Methodology: frozen score stream, calibration-only tuning, preregistration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Design of the decision policies, and what was implemented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Results: the preregistered test, and evaluation across nine mechanisms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232323"/>
                </a:solidFill>
                <a:latin typeface="Arial"/>
              </a:rPr>
              <a:t>Contribution, limitations, conclusion and future work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Slide </a:t>
            </a:r>
            <a:fld id="{FD3DDBF2-094B-4CA4-965C-FB22D307DBD7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0846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Background and Problem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874519"/>
          </a:xfrm>
        </p:spPr>
        <p:txBody>
          <a:bodyPr wrap="square"/>
          <a:lstStyle/>
          <a:p>
            <a:pPr>
              <a:spcAft>
                <a:spcPts val="700"/>
              </a:spcAft>
              <a:defRPr sz="2100">
                <a:solidFill>
                  <a:srgbClr val="232323"/>
                </a:solidFill>
                <a:latin typeface="Arial"/>
              </a:defRPr>
            </a:pPr>
            <a:r>
              <a:rPr sz="1800" b="0">
                <a:solidFill>
                  <a:srgbClr val="232323"/>
                </a:solidFill>
                <a:latin typeface="Arial"/>
              </a:rPr>
              <a:t>Continuous authentication keeps confidence in the current phone user after login, using passive signals.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A classifier emits a score every frame; a device must hold a persistent state - authenticated, or locked.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Near the threshold that state flickers even when the user has not changed. AUC cannot detect it: it ranks frames and ignores their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64608" y="3694175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000066"/>
                </a:solidFill>
                <a:latin typeface="Arial"/>
              </a:rPr>
              <a:t>Instantaneous threshold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300" b="0" i="0">
                <a:solidFill>
                  <a:srgbClr val="5A5A5A"/>
                </a:solidFill>
                <a:latin typeface="Arial"/>
              </a:rPr>
              <a:t>8 state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082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868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654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5440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1226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012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2798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584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370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1560" y="371246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942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1728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7514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3000" y="371246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4425695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000066"/>
                </a:solidFill>
                <a:latin typeface="Arial"/>
              </a:rPr>
              <a:t>With a persistence requirement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300" b="0" i="0">
                <a:solidFill>
                  <a:srgbClr val="5A5A5A"/>
                </a:solidFill>
                <a:latin typeface="Arial"/>
              </a:rPr>
              <a:t>1 state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082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868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9654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5440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1226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0120" y="4443983"/>
            <a:ext cx="245059" cy="310896"/>
          </a:xfrm>
          <a:prstGeom prst="rect">
            <a:avLst/>
          </a:prstGeom>
          <a:solidFill>
            <a:srgbClr val="000066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2798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584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4370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0156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942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1728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7514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33000" y="4443983"/>
            <a:ext cx="24505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413248"/>
            <a:ext cx="8229600" cy="64008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Arial"/>
              </a:rPr>
              <a:t>Problem statement: converting a noisy score stream into a stable authentication state is a design layer in its own right, and frame-level accuracy cannot measure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04748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A5A5A"/>
                </a:solidFill>
                <a:latin typeface="Arial"/>
              </a:rPr>
              <a:t>Ribbons are an illustrative schematic, not measured data. Filled = authenticated. Real traces appear on slide 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Aim, Objectives &amp;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697480"/>
          </a:xfrm>
        </p:spPr>
        <p:txBody>
          <a:bodyPr wrap="square"/>
          <a:lstStyle/>
          <a:p>
            <a:pPr>
              <a:spcAft>
                <a:spcPts val="700"/>
              </a:spcAft>
              <a:defRPr sz="2100">
                <a:solidFill>
                  <a:srgbClr val="232323"/>
                </a:solidFill>
                <a:latin typeface="Arial"/>
              </a:defRPr>
            </a:pPr>
            <a:r>
              <a:rPr sz="1700" b="1">
                <a:solidFill>
                  <a:srgbClr val="000066"/>
                </a:solidFill>
                <a:latin typeface="Arial"/>
              </a:rPr>
              <a:t>Aim: to test whether a handover-inspired margin adds useful stabilisation beyond temporal dwell, at a common calibration-defined operating point.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32323"/>
                </a:solidFill>
                <a:latin typeface="Arial"/>
              </a:rPr>
              <a:t>Objectives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Decompose margin and dwell on one frozen score stream under equal tuning.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Select every operating point from calibration data only, at a decision-layer FAR target of 0.05.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Evaluate at participant level on stability, FAR, FRR, detection and recovery - not frame accuracy alone.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Test the construct validity of the score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462272"/>
            <a:ext cx="8229600" cy="987552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08B57"/>
                </a:solidFill>
                <a:latin typeface="Arial"/>
              </a:rPr>
              <a:t>Research question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At a calibration-defined decision-layer FAR target, does adding a handover-inspired margin to temporal dwell reduce excess authentication-state transitions without unacceptable false rejection or detection failure?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504688"/>
            <a:ext cx="8229600" cy="566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5A5A5A"/>
                </a:solidFill>
                <a:latin typeface="Arial"/>
              </a:rPr>
              <a:t>Scope: one public dataset, one score generator, offline replay. Excluded - classifier design, live deployment, and any claim about biometric identity.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Related Work and Identified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88920"/>
          </a:xfrm>
        </p:spPr>
        <p:txBody>
          <a:bodyPr wrap="square"/>
          <a:lstStyle/>
          <a:p>
            <a:pPr>
              <a:spcAft>
                <a:spcPts val="700"/>
              </a:spcAft>
              <a:defRPr sz="2100">
                <a:solidFill>
                  <a:srgbClr val="232323"/>
                </a:solidFill>
                <a:latin typeface="Arial"/>
              </a:defRPr>
            </a:pPr>
            <a:r>
              <a:rPr sz="1600" b="0">
                <a:solidFill>
                  <a:srgbClr val="232323"/>
                </a:solidFill>
                <a:latin typeface="Arial"/>
              </a:rPr>
              <a:t>Zeeshan et al. (2025) use EWMA "to stabilize decisions and avoid flickering" - but never isolate its effect, report the coefficient, or test a margin.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Mondal &amp; Bours (2015) do compare decision layers, but sweep fusion, thresholds, boosting and trust models together, reporting action-domain measures.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Sugrim et al. (2019) show equal-error-rate comparison is uninformative when a system has a fixed false-accept requirement; compare at a fixed operating point.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Stragapede et al. (2023) show mobile behavioural models can identify the device rather than the user.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498848"/>
            <a:ext cx="8229600" cy="1078992"/>
          </a:xfrm>
          <a:prstGeom prst="rect">
            <a:avLst/>
          </a:prstGeom>
          <a:noFill/>
          <a:ln w="1270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C0504D"/>
                </a:solidFill>
                <a:latin typeface="Arial"/>
              </a:rPr>
              <a:t>Identified gap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Prior work compares temporal-policy combinations. Evidence is limited on the incremental effect of a dual-threshold margin when margin and dwell are decomposed under equal tuning, on a shared score stream, at a calibration-defined FAR target.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05856"/>
            <a:ext cx="82296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000066"/>
                </a:solidFill>
                <a:latin typeface="Arial"/>
              </a:rPr>
              <a:t>The novelty claimed is the decomposition - not the classifier, the dataset, or temporal smoothing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Methodology / Project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611880"/>
          </a:xfrm>
        </p:spPr>
        <p:txBody>
          <a:bodyPr wrap="square"/>
          <a:lstStyle/>
          <a:p>
            <a:pPr>
              <a:spcAft>
                <a:spcPts val="700"/>
              </a:spcAft>
              <a:defRPr sz="2100">
                <a:solidFill>
                  <a:srgbClr val="232323"/>
                </a:solidFill>
                <a:latin typeface="Arial"/>
              </a:defRPr>
            </a:pPr>
            <a:r>
              <a:rPr sz="1600" b="0">
                <a:solidFill>
                  <a:srgbClr val="232323"/>
                </a:solidFill>
                <a:latin typeface="Arial"/>
              </a:rPr>
              <a:t>Experimental reanalysis of the public ExtraSensory dataset (Vaizman et al., 2017) - collected for context recognition, not authentication.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Cohort: 31 participants on a regular ~1-minute cadence, defined before any confirmatory score was generated. Each is one enrolled user, one-versus-rest.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Chronological enrolment / calibration / test partitions. Preprocessing fitted on enrolment only. Final-test impostors unseen during fitting and calibration.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Per-user gradient-boosting score generator, frozen before any decision policy is applied. Every policy replays the same stored scores.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Parameters chosen on calibration data only, at a decision-layer FAR target of 0.05 (preregistered feasible band 0.04-0.05).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Participant-level paired inference: Wilcoxon signed-rank, Holm-corrected, with bootstrap confidence intervals.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358384"/>
            <a:ext cx="8229600" cy="749808"/>
          </a:xfrm>
          <a:prstGeom prst="rect">
            <a:avLst/>
          </a:prstGeom>
          <a:solidFill>
            <a:srgbClr val="E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Reproducibility: rules, grids, outcomes and the verdict wording were frozen before the score dumps existed. Executed code is byte-identical to the frozen code. Public dataset, so no further ethical approval was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System / Model Design</a:t>
            </a:r>
          </a:p>
        </p:txBody>
      </p:sp>
      <p:pic>
        <p:nvPicPr>
          <p:cNvPr id="3" name="Picture 2" descr="fig5_sequence_schematic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6564"/>
            <a:ext cx="3063240" cy="39569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49039" y="1591056"/>
            <a:ext cx="4956048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000066"/>
                </a:solidFill>
                <a:latin typeface="Arial"/>
              </a:rPr>
              <a:t>Decision rule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232323"/>
                </a:solidFill>
                <a:latin typeface="Arial"/>
              </a:rPr>
              <a:t>Accept if score ≥ θ + m/2; reject if score &lt; θ − m/2. k consecutive qualifying frames flip the state; anything else resets the counter.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560320"/>
            <a:ext cx="4956048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000066"/>
                </a:solidFill>
                <a:latin typeface="Arial"/>
              </a:rPr>
              <a:t>Factorial:  m ∈ {0, 0.05, 0.10, 0.20}  ×  k ∈ {1, 2, 3, 5, 10}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39" y="2834640"/>
            <a:ext cx="2395728" cy="658368"/>
          </a:xfrm>
          <a:prstGeom prst="rect">
            <a:avLst/>
          </a:prstGeom>
          <a:noFill/>
          <a:ln w="12700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000066"/>
                </a:solidFill>
                <a:latin typeface="Arial"/>
              </a:rPr>
              <a:t>Instantaneous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0" i="0">
                <a:solidFill>
                  <a:srgbClr val="5A5A5A"/>
                </a:solidFill>
                <a:latin typeface="Arial"/>
              </a:rPr>
              <a:t>m = 0,  k = 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59" y="2834640"/>
            <a:ext cx="2395728" cy="658368"/>
          </a:xfrm>
          <a:prstGeom prst="rect">
            <a:avLst/>
          </a:prstGeom>
          <a:noFill/>
          <a:ln w="12700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000066"/>
                </a:solidFill>
                <a:latin typeface="Arial"/>
              </a:rPr>
              <a:t>Dwell only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0" i="0">
                <a:solidFill>
                  <a:srgbClr val="5A5A5A"/>
                </a:solidFill>
                <a:latin typeface="Arial"/>
              </a:rPr>
              <a:t>m = 0,  k &gt; 1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3621024"/>
            <a:ext cx="2395728" cy="658368"/>
          </a:xfrm>
          <a:prstGeom prst="rect">
            <a:avLst/>
          </a:prstGeom>
          <a:noFill/>
          <a:ln w="12700"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000066"/>
                </a:solidFill>
                <a:latin typeface="Arial"/>
              </a:rPr>
              <a:t>Margin only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0" i="0">
                <a:solidFill>
                  <a:srgbClr val="5A5A5A"/>
                </a:solidFill>
                <a:latin typeface="Arial"/>
              </a:rPr>
              <a:t>m &gt; 0,  k = 1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3621024"/>
            <a:ext cx="2395728" cy="658368"/>
          </a:xfrm>
          <a:prstGeom prst="rect">
            <a:avLst/>
          </a:prstGeom>
          <a:noFill/>
          <a:ln w="1270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C0504D"/>
                </a:solidFill>
                <a:latin typeface="Arial"/>
              </a:rPr>
              <a:t>Margin + dwell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0" i="0">
                <a:solidFill>
                  <a:srgbClr val="5A5A5A"/>
                </a:solidFill>
                <a:latin typeface="Arial"/>
              </a:rPr>
              <a:t>m &gt; 0,  k &gt;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4425696"/>
            <a:ext cx="4956048" cy="1097280"/>
          </a:xfrm>
          <a:prstGeom prst="rect">
            <a:avLst/>
          </a:prstGeom>
          <a:solidFill>
            <a:srgbClr val="E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000066"/>
                </a:solidFill>
                <a:latin typeface="Arial"/>
              </a:rPr>
              <a:t>Evaluation contract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Each test sequence is 60 genuine, 60 unseen-impostor and 60 recovery frames. A correct trace needs exactly two state changes; anything beyond that is an excess transition.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A5A5A"/>
                </a:solidFill>
                <a:latin typeface="Arial"/>
              </a:rPr>
              <a:t>Figure 5. One real test sequence under three policies, on an identical score stream.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Implementation Work Done</a:t>
            </a:r>
          </a:p>
        </p:txBody>
      </p:sp>
      <p:pic>
        <p:nvPicPr>
          <p:cNvPr id="3" name="Picture 2" descr="fig1_factorial_surfac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118" y="1554480"/>
            <a:ext cx="2588963" cy="434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591056"/>
            <a:ext cx="49834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000066"/>
                </a:solidFill>
                <a:latin typeface="Arial"/>
              </a:rPr>
              <a:t>Built and executed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 i="0">
                <a:solidFill>
                  <a:srgbClr val="232323"/>
                </a:solidFill>
                <a:latin typeface="Arial"/>
              </a:rPr>
              <a:t>•  Python, scikit-learn 1.6.1, NumPy, pandas. Score dumps generated from commit f42f55c with seed 20260918.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 i="0">
                <a:solidFill>
                  <a:srgbClr val="232323"/>
                </a:solidFill>
                <a:latin typeface="Arial"/>
              </a:rPr>
              <a:t>•  Per-frame scores dumped once to Parquet, so every rule change is replayed offline - model fitting was 92% of runtime.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500" b="0" i="0">
                <a:solidFill>
                  <a:srgbClr val="232323"/>
                </a:solidFill>
                <a:latin typeface="Arial"/>
              </a:rPr>
              <a:t>•  All 20 factorial cells run per participant (3 infeasible at the target), plus nine further mechanisms for the secondary comparison.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224528"/>
            <a:ext cx="4983480" cy="1115568"/>
          </a:xfrm>
          <a:prstGeom prst="rect">
            <a:avLst/>
          </a:prstGeom>
          <a:noFill/>
          <a:ln w="1270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C0504D"/>
                </a:solidFill>
                <a:latin typeface="Arial"/>
              </a:rPr>
              <a:t>Challenge resolved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300" b="0" i="0">
                <a:solidFill>
                  <a:srgbClr val="232323"/>
                </a:solidFill>
                <a:latin typeface="Arial"/>
              </a:rPr>
              <a:t>A windowed-mean defect made one secondary mechanism disagree with its reference at exact ties. Fixed, regression-tested, and the offline analysis rerun; the preregistered primary test was unaffected.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13248"/>
            <a:ext cx="4983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0066"/>
                </a:solidFill>
                <a:latin typeface="Arial"/>
              </a:rPr>
              <a:t>Preregistration, frozen analysis, figure and table scripts, checks and rendered outputs are all in the project repository.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5888736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A5A5A"/>
                </a:solidFill>
                <a:latin typeface="Arial"/>
              </a:rPr>
              <a:t>Figure 1. The executed factorial at FAR 0.05: excess transitions (top) and FRR (bottom).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Results and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72768"/>
          <a:ext cx="50749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417320"/>
                <a:gridCol w="13258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9144" marB="9144" anchor="ctr">
                    <a:solidFill>
                      <a:srgbClr val="0000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vs dwell only</a:t>
                      </a:r>
                    </a:p>
                  </a:txBody>
                  <a:tcPr marL="54864" marR="54864" marT="9144" marB="9144" anchor="ctr">
                    <a:solidFill>
                      <a:srgbClr val="0000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vs margin only</a:t>
                      </a:r>
                    </a:p>
                  </a:txBody>
                  <a:tcPr marL="54864" marR="54864" marT="9144" marB="9144" anchor="ctr">
                    <a:solidFill>
                      <a:srgbClr val="0000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Participants paired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Excess transitions, mean paired difference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−0.13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−0.20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Holm-adjusted p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0.69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FRR difference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504D"/>
                          </a:solidFill>
                          <a:latin typeface="Arial"/>
                        </a:rPr>
                        <a:t>+0.074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+0.030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FRR 95% CI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504D"/>
                          </a:solidFill>
                          <a:latin typeface="Arial"/>
                        </a:rPr>
                        <a:t>[0.032, 0.119]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32323"/>
                          </a:solidFill>
                          <a:latin typeface="Arial"/>
                        </a:rPr>
                        <a:t>[−0.008, 0.069]</a:t>
                      </a:r>
                    </a:p>
                  </a:txBody>
                  <a:tcPr marL="54864" marR="54864" marT="9144" marB="9144" anchor="ctr">
                    <a:solidFill>
                      <a:srgbClr val="EFECE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Detection-failure difference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32323"/>
                          </a:solidFill>
                          <a:latin typeface="Arial"/>
                        </a:rPr>
                        <a:t>−0.007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3639312"/>
            <a:ext cx="5074920" cy="841248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Arial"/>
              </a:rPr>
              <a:t>Margin plus dwell offers no measurable advantage over its components, and is FRR-inferior to dwell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08576"/>
            <a:ext cx="50749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•  The +0.074 FRR penalty breaches the preregistered +0.02 non-inferiority bound. 20 of 30 participants tied exactly on stability.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•  Descriptively, a dwell of 2 frames cuts excess transitions from 2.012 to 0.466 per sequence for about +0.01 FRR (unpaired cells).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•  Across nine mechanisms none dominates: the most stable are the most locked out. Ordering holds at FAR 0.03 and 0.07.</a:t>
            </a:r>
          </a:p>
        </p:txBody>
      </p:sp>
      <p:pic>
        <p:nvPicPr>
          <p:cNvPr id="6" name="Picture 5" descr="fig2_stability_lockout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72600"/>
            <a:ext cx="2971800" cy="33779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5650992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A5A5A"/>
                </a:solidFill>
                <a:latin typeface="Arial"/>
              </a:rPr>
              <a:t>Figure 2. Stability-lockout plane. Lower left is better; no mechanism reaches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Contribution and Significance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1920240" cy="100584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1" y="1664208"/>
            <a:ext cx="6144768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0" i="0">
                <a:solidFill>
                  <a:srgbClr val="232323"/>
                </a:solidFill>
                <a:latin typeface="Arial"/>
              </a:rPr>
              <a:t>A preregistered null plus a directional failure: no stability gain from the margin (p = 0.69 against both components), and an FRR penalty of +0.074 against dwell that breaches the +0.02 bound.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79776"/>
            <a:ext cx="1920240" cy="100584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2031" y="2798064"/>
            <a:ext cx="6144768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0" i="0">
                <a:solidFill>
                  <a:srgbClr val="232323"/>
                </a:solidFill>
                <a:latin typeface="Arial"/>
              </a:rPr>
              <a:t>Persistence is what transfers from the handover analogy. The margin does not add measurable value here - it converts instability into lockout.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1920240" cy="100584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Arial"/>
              </a:rPr>
              <a:t>Significance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1" y="3931920"/>
            <a:ext cx="6144768" cy="9692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0" i="0">
                <a:solidFill>
                  <a:srgbClr val="232323"/>
                </a:solidFill>
                <a:latin typeface="Arial"/>
              </a:rPr>
              <a:t>Methodological: a leakage-aware, calibration-frozen way to test whether a decision rule improves a system, rather than merely making its state harder to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02352"/>
            <a:ext cx="8229600" cy="896112"/>
          </a:xfrm>
          <a:prstGeom prst="rect">
            <a:avLst/>
          </a:prstGeom>
          <a:solidFill>
            <a:srgbClr val="E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000066"/>
                </a:solidFill>
                <a:latin typeface="Arial"/>
              </a:rPr>
              <a:t>Practical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For a designer with a comparable score stream, a short dwell is the simplest defensible first intervention. Always report excess transitions together with FAR, FRR and recovery - a stability number alone rewards a policy that has stopped responding.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Conclusion and Future Work</a:t>
            </a:r>
          </a:p>
        </p:txBody>
      </p:sp>
      <p:pic>
        <p:nvPicPr>
          <p:cNvPr id="3" name="Picture 2" descr="fig3_instability_concentr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197" y="1572768"/>
            <a:ext cx="2446486" cy="2103120"/>
          </a:xfrm>
          <a:prstGeom prst="rect">
            <a:avLst/>
          </a:prstGeom>
        </p:spPr>
      </p:pic>
      <p:pic>
        <p:nvPicPr>
          <p:cNvPr id="4" name="Picture 3" descr="fig4_score_validity_f3_f7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273" y="1572768"/>
            <a:ext cx="2174573" cy="2103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749039"/>
            <a:ext cx="3840480" cy="347472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Arial"/>
              </a:rPr>
              <a:t>Instability is rare and concentrated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51376"/>
            <a:ext cx="3840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232323"/>
                </a:solidFill>
                <a:latin typeface="Arial"/>
              </a:rPr>
              <a:t>71.7% of instantaneous test sequences never flip; 5 of 30 participants carry 65.6% of it. Little for a margin to improve - this limits power.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3749039"/>
            <a:ext cx="3840480" cy="347472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Arial"/>
              </a:rPr>
              <a:t>The score is not clean identity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151376"/>
            <a:ext cx="3840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232323"/>
                </a:solidFill>
                <a:latin typeface="Arial"/>
              </a:rPr>
              <a:t>Removing location and device-state features drops mean AUC from 0.990 to 0.758 (paired difference 0.232 [0.191, 0.273]).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8229600" cy="566928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Arial"/>
              </a:rPr>
              <a:t>Conclusion: under a preregistered, calibration-frozen comparison, the margin did not earn its place on this benchmark.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87568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232323"/>
                </a:solidFill>
                <a:latin typeface="Arial"/>
              </a:rPr>
              <a:t>Future work: a cohort selected for instability; a dataset that separates user from device; equalised tuning grids so the SPRT result can be confirmed.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0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434840"/>
          </a:xfrm>
        </p:spPr>
        <p:txBody>
          <a:bodyPr wrap="square"/>
          <a:lstStyle/>
          <a:p>
            <a:pPr>
              <a:spcAft>
                <a:spcPts val="700"/>
              </a:spcAft>
              <a:defRPr sz="2100">
                <a:solidFill>
                  <a:srgbClr val="232323"/>
                </a:solidFill>
                <a:latin typeface="Arial"/>
              </a:defRPr>
            </a:pPr>
            <a:r>
              <a:rPr sz="1300" b="0">
                <a:solidFill>
                  <a:srgbClr val="232323"/>
                </a:solidFill>
                <a:latin typeface="Arial"/>
              </a:rPr>
              <a:t>Mondal, S., &amp; Bours, P. (2015). A computational approach to the continuous authentication biometric system. Information Sciences, 304, 28-53.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Sugrim, S., Liu, C., McLean, M., &amp; Lindqvist, J. (2019). Robust performance metrics for authentication systems. NDSS Symposium 2019.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Zeeshan, N., Bakyt, M., Moradpoor, N., &amp; La Spada, L. (2025). Continuous authentication in resource-constrained devices via biometric and environmental fusion. Sensors, 25(18), 5711.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Stragapede, G., Vera-Rodriguez, R., Tolosana, R., &amp; Morales, A. (2023). BehavePassDB: Public database for mobile behavioral biometrics. Pattern Recognition, 134, 109089.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Vaizman, Y., Ellis, K., &amp; Lanckriet, G. (2017). Recognizing detailed human context in-the-wild from smartphones and smartwatches. IEEE Pervasive Computing, 16(4), 62-74.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Georgiev, M., Eberz, S., Turner, H., Lovisotto, G., &amp; Martinovic, I. (2022). Common evaluation pitfalls in touch-based authentication systems. ACM AsiaCCS 2022.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Kapoor, S., &amp; Narayanan, A. (2023). Leakage and the reproducibility crisis in machine-learning-based science. Patterns, 4(9), 100804.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Baldwin, J. R., et al. (2022). Protecting against researcher bias in secondary data analysis. European Journal of Epidemiology, 37(1), 1-10.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797296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5A5A5A"/>
                </a:solidFill>
                <a:latin typeface="Arial"/>
              </a:rPr>
              <a:t>APA 7th. Full reference list and the citation verification record are in the dissertation and the project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3200</TotalTime>
  <Words>9</Words>
  <Application>Microsoft Macintosh PowerPoint</Application>
  <PresentationFormat>On-screen Show (4:3)</PresentationFormat>
  <Paragraphs>10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Myriad Pro</vt:lpstr>
      <vt:lpstr>Tw Cen MT</vt:lpstr>
      <vt:lpstr>Office Theme</vt:lpstr>
      <vt:lpstr>Title</vt:lpstr>
      <vt:lpstr>Outline</vt:lpstr>
    </vt:vector>
  </TitlesOfParts>
  <Company>Toshiba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Some title</dc:title>
  <dc:creator>Nana Yaw Akuamoah</dc:creator>
  <cp:lastModifiedBy>Solomon Mensah</cp:lastModifiedBy>
  <cp:revision>171</cp:revision>
  <dcterms:created xsi:type="dcterms:W3CDTF">2011-06-07T13:56:57Z</dcterms:created>
  <dcterms:modified xsi:type="dcterms:W3CDTF">2026-09-13T22:02:23Z</dcterms:modified>
</cp:coreProperties>
</file>