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320" r:id="rId3"/>
    <p:sldId id="321" r:id="rId10"/>
    <p:sldId id="322" r:id="rId11"/>
    <p:sldId id="323" r:id="rId12"/>
    <p:sldId id="324" r:id="rId13"/>
    <p:sldId id="325" r:id="rId14"/>
    <p:sldId id="326" r:id="rId15"/>
    <p:sldId id="327" r:id="rId16"/>
    <p:sldId id="328" r:id="rId17"/>
    <p:sldId id="329" r:id="rId18"/>
    <p:sldId id="330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A"/>
    <a:srgbClr val="B08B57"/>
    <a:srgbClr val="000066"/>
    <a:srgbClr val="006CA1"/>
    <a:srgbClr val="EEEEEE"/>
    <a:srgbClr val="F8F3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97" autoAdjust="0"/>
    <p:restoredTop sz="94684"/>
  </p:normalViewPr>
  <p:slideViewPr>
    <p:cSldViewPr>
      <p:cViewPr varScale="1">
        <p:scale>
          <a:sx n="106" d="100"/>
          <a:sy n="106" d="100"/>
        </p:scale>
        <p:origin x="1616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0527F3-EB79-49FF-912B-041B9C4FB81F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D8CEFE-5176-4370-99E3-0069C87A94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993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1F51EC-9B9E-44A7-B1DF-C15828FE6524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38A8A1-E2B8-4BD1-8409-EFE61EA4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407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38A8A1-E2B8-4BD1-8409-EFE61EA494F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0906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 cstate="print">
            <a:lum/>
          </a:blip>
          <a:srcRect/>
          <a:stretch>
            <a:fillRect t="-9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print"/>
          <a:srcRect t="16072"/>
          <a:stretch/>
        </p:blipFill>
        <p:spPr>
          <a:xfrm>
            <a:off x="600075" y="4949099"/>
            <a:ext cx="7858125" cy="12231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1988545" y="5602069"/>
            <a:ext cx="6477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Tw Cen MT" panose="020B0602020104020603" pitchFamily="34" charset="0"/>
              </a:rPr>
              <a:t>College of Education</a:t>
            </a:r>
          </a:p>
          <a:p>
            <a:r>
              <a:rPr lang="en-US" b="1" dirty="0">
                <a:solidFill>
                  <a:srgbClr val="002060"/>
                </a:solidFill>
                <a:latin typeface="Tw Cen MT" panose="020B0602020104020603" pitchFamily="34" charset="0"/>
              </a:rPr>
              <a:t>School of Continuing and Distance Education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7010400" y="6362838"/>
            <a:ext cx="2133600" cy="3907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600" y="6393013"/>
            <a:ext cx="1447800" cy="365125"/>
          </a:xfrm>
          <a:prstGeom prst="rect">
            <a:avLst/>
          </a:prstGeom>
        </p:spPr>
        <p:txBody>
          <a:bodyPr/>
          <a:lstStyle>
            <a:lvl1pPr>
              <a:defRPr sz="1100" b="1"/>
            </a:lvl1pPr>
          </a:lstStyle>
          <a:p>
            <a:r>
              <a:rPr lang="en-US" dirty="0"/>
              <a:t>Slide </a:t>
            </a:r>
            <a:fld id="{FD3DDBF2-094B-4CA4-965C-FB22D307DB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1988545" y="6172200"/>
            <a:ext cx="3124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kern="1200" dirty="0">
                <a:solidFill>
                  <a:srgbClr val="002060"/>
                </a:solidFill>
                <a:latin typeface="Tw Cen MT" panose="020B0602020104020603" pitchFamily="34" charset="0"/>
                <a:ea typeface="+mn-ea"/>
                <a:cs typeface="+mn-cs"/>
              </a:rPr>
              <a:t>2014/2015 – 2016/2017</a:t>
            </a:r>
          </a:p>
        </p:txBody>
      </p:sp>
    </p:spTree>
    <p:extLst>
      <p:ext uri="{BB962C8B-B14F-4D97-AF65-F5344CB8AC3E}">
        <p14:creationId xmlns:p14="http://schemas.microsoft.com/office/powerpoint/2010/main" val="3097770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2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4104860" y="6362838"/>
            <a:ext cx="1152940" cy="3651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B742AE79-170A-4B85-859E-74CA25CF50CE}" type="datetime1">
              <a:rPr lang="en-US" smtClean="0"/>
              <a:t>9/13/26</a:t>
            </a:fld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" y="6388445"/>
            <a:ext cx="3124200" cy="365125"/>
          </a:xfrm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endParaRPr lang="en-US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10200" y="6362838"/>
            <a:ext cx="1447800" cy="365125"/>
          </a:xfrm>
          <a:prstGeom prst="rect">
            <a:avLst/>
          </a:prstGeom>
        </p:spPr>
        <p:txBody>
          <a:bodyPr/>
          <a:lstStyle>
            <a:lvl1pPr>
              <a:defRPr sz="1100" b="1"/>
            </a:lvl1pPr>
          </a:lstStyle>
          <a:p>
            <a:r>
              <a:rPr lang="en-US" dirty="0"/>
              <a:t>Slide </a:t>
            </a:r>
            <a:fld id="{FD3DDBF2-094B-4CA4-965C-FB22D307D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053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4104860" y="6362838"/>
            <a:ext cx="1152940" cy="3651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3779F517-E568-4E5B-BC0B-49F7AD69FE2B}" type="datetime1">
              <a:rPr lang="en-US" smtClean="0"/>
              <a:t>9/13/26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" y="6388445"/>
            <a:ext cx="3124200" cy="365125"/>
          </a:xfrm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10200" y="6362838"/>
            <a:ext cx="1447800" cy="365125"/>
          </a:xfrm>
          <a:prstGeom prst="rect">
            <a:avLst/>
          </a:prstGeom>
        </p:spPr>
        <p:txBody>
          <a:bodyPr/>
          <a:lstStyle>
            <a:lvl1pPr>
              <a:defRPr sz="1100" b="1"/>
            </a:lvl1pPr>
          </a:lstStyle>
          <a:p>
            <a:r>
              <a:rPr lang="en-US" dirty="0"/>
              <a:t>Slide </a:t>
            </a:r>
            <a:fld id="{FD3DDBF2-094B-4CA4-965C-FB22D307D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196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4104860" y="6362838"/>
            <a:ext cx="1152940" cy="3651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F4BFB2F8-D43D-4F8A-9775-4D139BF4AEE6}" type="datetime1">
              <a:rPr lang="en-US" smtClean="0"/>
              <a:t>9/13/26</a:t>
            </a:fld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" y="6388445"/>
            <a:ext cx="3124200" cy="365125"/>
          </a:xfrm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10200" y="6362838"/>
            <a:ext cx="1447800" cy="365125"/>
          </a:xfrm>
          <a:prstGeom prst="rect">
            <a:avLst/>
          </a:prstGeom>
        </p:spPr>
        <p:txBody>
          <a:bodyPr/>
          <a:lstStyle>
            <a:lvl1pPr>
              <a:defRPr sz="1100" b="1"/>
            </a:lvl1pPr>
          </a:lstStyle>
          <a:p>
            <a:r>
              <a:rPr lang="en-US" dirty="0"/>
              <a:t>Slide </a:t>
            </a:r>
            <a:fld id="{FD3DDBF2-094B-4CA4-965C-FB22D307D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529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4104860" y="6362838"/>
            <a:ext cx="1152940" cy="3651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36FDC92E-2EAE-4A54-8A34-2DA1FEDC6CA9}" type="datetime1">
              <a:rPr lang="en-US" smtClean="0"/>
              <a:t>9/13/26</a:t>
            </a:fld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52400" y="6388445"/>
            <a:ext cx="3124200" cy="365125"/>
          </a:xfrm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endParaRPr lang="en-US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10200" y="6362838"/>
            <a:ext cx="1447800" cy="365125"/>
          </a:xfrm>
          <a:prstGeom prst="rect">
            <a:avLst/>
          </a:prstGeom>
        </p:spPr>
        <p:txBody>
          <a:bodyPr/>
          <a:lstStyle>
            <a:lvl1pPr>
              <a:defRPr sz="1100" b="1"/>
            </a:lvl1pPr>
          </a:lstStyle>
          <a:p>
            <a:r>
              <a:rPr lang="en-US" dirty="0"/>
              <a:t>Slide </a:t>
            </a:r>
            <a:fld id="{FD3DDBF2-094B-4CA4-965C-FB22D307D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458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4104860" y="6362838"/>
            <a:ext cx="1152940" cy="3651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C638EEC8-AC55-41CB-89D6-72FDDE408435}" type="datetime1">
              <a:rPr lang="en-US" smtClean="0"/>
              <a:t>9/13/26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" y="6388445"/>
            <a:ext cx="3124200" cy="365125"/>
          </a:xfrm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10200" y="6362838"/>
            <a:ext cx="1447800" cy="365125"/>
          </a:xfrm>
          <a:prstGeom prst="rect">
            <a:avLst/>
          </a:prstGeom>
        </p:spPr>
        <p:txBody>
          <a:bodyPr/>
          <a:lstStyle>
            <a:lvl1pPr>
              <a:defRPr sz="1100" b="1"/>
            </a:lvl1pPr>
          </a:lstStyle>
          <a:p>
            <a:r>
              <a:rPr lang="en-US" dirty="0"/>
              <a:t>Slide </a:t>
            </a:r>
            <a:fld id="{FD3DDBF2-094B-4CA4-965C-FB22D307D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49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4104860" y="6362838"/>
            <a:ext cx="1152940" cy="3651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064C9241-9CE5-4A07-BBB7-BE8290261061}" type="datetime1">
              <a:rPr lang="en-US" smtClean="0"/>
              <a:t>9/13/26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" y="6388445"/>
            <a:ext cx="3124200" cy="365125"/>
          </a:xfrm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10200" y="6362838"/>
            <a:ext cx="1447800" cy="365125"/>
          </a:xfrm>
          <a:prstGeom prst="rect">
            <a:avLst/>
          </a:prstGeom>
        </p:spPr>
        <p:txBody>
          <a:bodyPr/>
          <a:lstStyle>
            <a:lvl1pPr>
              <a:defRPr sz="1100" b="1"/>
            </a:lvl1pPr>
          </a:lstStyle>
          <a:p>
            <a:r>
              <a:rPr lang="en-US" dirty="0"/>
              <a:t>Slide </a:t>
            </a:r>
            <a:fld id="{FD3DDBF2-094B-4CA4-965C-FB22D307D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845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4104860" y="6362838"/>
            <a:ext cx="1152940" cy="3651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6824842F-63D0-4DB7-850E-219266D9DBA0}" type="datetime1">
              <a:rPr lang="en-US" smtClean="0"/>
              <a:t>9/13/26</a:t>
            </a:fld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" y="6388445"/>
            <a:ext cx="3124200" cy="365125"/>
          </a:xfrm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10200" y="6362838"/>
            <a:ext cx="1447800" cy="365125"/>
          </a:xfrm>
          <a:prstGeom prst="rect">
            <a:avLst/>
          </a:prstGeom>
        </p:spPr>
        <p:txBody>
          <a:bodyPr/>
          <a:lstStyle>
            <a:lvl1pPr>
              <a:defRPr sz="1100" b="1"/>
            </a:lvl1pPr>
          </a:lstStyle>
          <a:p>
            <a:r>
              <a:rPr lang="en-US" dirty="0"/>
              <a:t>Slide </a:t>
            </a:r>
            <a:fld id="{FD3DDBF2-094B-4CA4-965C-FB22D307D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546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4104860" y="6362838"/>
            <a:ext cx="1152940" cy="3651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08B1279-D2B8-4398-B114-9002116C28E5}" type="datetime1">
              <a:rPr lang="en-US" smtClean="0"/>
              <a:t>9/13/26</a:t>
            </a:fld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" y="6388445"/>
            <a:ext cx="3124200" cy="365125"/>
          </a:xfrm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10200" y="6362838"/>
            <a:ext cx="1447800" cy="365125"/>
          </a:xfrm>
          <a:prstGeom prst="rect">
            <a:avLst/>
          </a:prstGeom>
        </p:spPr>
        <p:txBody>
          <a:bodyPr/>
          <a:lstStyle>
            <a:lvl1pPr>
              <a:defRPr sz="1100" b="1"/>
            </a:lvl1pPr>
          </a:lstStyle>
          <a:p>
            <a:r>
              <a:rPr lang="en-US" dirty="0"/>
              <a:t>Slide </a:t>
            </a:r>
            <a:fld id="{FD3DDBF2-094B-4CA4-965C-FB22D307D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970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4104860" y="6362838"/>
            <a:ext cx="1152940" cy="3651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FE4A95AD-76A6-4771-89B3-E965563E5103}" type="datetime1">
              <a:rPr lang="en-US" smtClean="0"/>
              <a:t>9/13/26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" y="6388445"/>
            <a:ext cx="3124200" cy="365125"/>
          </a:xfrm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10200" y="6362838"/>
            <a:ext cx="1447800" cy="365125"/>
          </a:xfrm>
          <a:prstGeom prst="rect">
            <a:avLst/>
          </a:prstGeom>
        </p:spPr>
        <p:txBody>
          <a:bodyPr/>
          <a:lstStyle>
            <a:lvl1pPr>
              <a:defRPr sz="1100" b="1"/>
            </a:lvl1pPr>
          </a:lstStyle>
          <a:p>
            <a:r>
              <a:rPr lang="en-US" dirty="0"/>
              <a:t>Slide </a:t>
            </a:r>
            <a:fld id="{FD3DDBF2-094B-4CA4-965C-FB22D307D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423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4104860" y="6362838"/>
            <a:ext cx="1152940" cy="3651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3AA20F2-3C04-4876-8E70-12D323D04960}" type="datetime1">
              <a:rPr lang="en-US" smtClean="0"/>
              <a:t>9/13/26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" y="6388445"/>
            <a:ext cx="3124200" cy="365125"/>
          </a:xfrm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10200" y="6362838"/>
            <a:ext cx="1447800" cy="365125"/>
          </a:xfrm>
          <a:prstGeom prst="rect">
            <a:avLst/>
          </a:prstGeom>
        </p:spPr>
        <p:txBody>
          <a:bodyPr/>
          <a:lstStyle>
            <a:lvl1pPr>
              <a:defRPr sz="1100" b="1"/>
            </a:lvl1pPr>
          </a:lstStyle>
          <a:p>
            <a:r>
              <a:rPr lang="en-US" dirty="0"/>
              <a:t>Slide </a:t>
            </a:r>
            <a:fld id="{FD3DDBF2-094B-4CA4-965C-FB22D307D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1015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x" type="tx">
  <p:cSld name="tx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 txBox="1">
            <a:spLocks noGrp="1"/>
          </p:cNvSpPr>
          <p:nvPr>
            <p:ph type="body" idx="1"/>
          </p:nvPr>
        </p:nvSpPr>
        <p:spPr>
          <a:xfrm>
            <a:off x="381000" y="1828800"/>
            <a:ext cx="8229600" cy="4830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defRPr sz="2400"/>
            </a:lvl1pPr>
            <a:lvl2pPr rtl="0">
              <a:defRPr sz="2400"/>
            </a:lvl2pPr>
            <a:lvl3pPr rtl="0">
              <a:defRPr sz="2400"/>
            </a:lvl3pPr>
            <a:lvl4pPr rtl="0">
              <a:defRPr sz="1800"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>
            <a:endParaRPr dirty="0"/>
          </a:p>
        </p:txBody>
      </p:sp>
      <p:sp>
        <p:nvSpPr>
          <p:cNvPr id="35" name="Shape 3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6705599" cy="901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Shape 59"/>
          <p:cNvSpPr/>
          <p:nvPr/>
        </p:nvSpPr>
        <p:spPr>
          <a:xfrm>
            <a:off x="5791200" y="6400800"/>
            <a:ext cx="2895600" cy="3650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r" rtl="0">
              <a:buNone/>
            </a:pPr>
            <a:r>
              <a:rPr lang="en" sz="700" b="0" i="0" u="none" strike="noStrike" cap="none" baseline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Google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2031635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Relationship Id="rId15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5" cstate="print"/>
          <a:stretch>
            <a:fillRect/>
          </a:stretch>
        </p:blipFill>
        <p:spPr>
          <a:xfrm>
            <a:off x="7086599" y="6388445"/>
            <a:ext cx="2057401" cy="400291"/>
          </a:xfrm>
          <a:prstGeom prst="rect">
            <a:avLst/>
          </a:prstGeom>
        </p:spPr>
      </p:pic>
      <p:sp useBgFill="1"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4104860" y="6362838"/>
            <a:ext cx="1152940" cy="3651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FF4DB397-BAB8-4E1B-8BEF-25B9392B2636}" type="datetime1">
              <a:rPr lang="en-US" smtClean="0"/>
              <a:t>9/13/26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" y="6388445"/>
            <a:ext cx="3124200" cy="365125"/>
          </a:xfrm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endParaRPr lang="en-US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10200" y="6362838"/>
            <a:ext cx="1447800" cy="365125"/>
          </a:xfrm>
          <a:prstGeom prst="rect">
            <a:avLst/>
          </a:prstGeom>
        </p:spPr>
        <p:txBody>
          <a:bodyPr/>
          <a:lstStyle>
            <a:lvl1pPr>
              <a:defRPr sz="1100" b="1"/>
            </a:lvl1pPr>
          </a:lstStyle>
          <a:p>
            <a:r>
              <a:rPr lang="en-US" dirty="0"/>
              <a:t>Slide </a:t>
            </a:r>
            <a:fld id="{FD3DDBF2-094B-4CA4-965C-FB22D307D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329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213667"/>
            <a:ext cx="8686800" cy="1470025"/>
          </a:xfrm>
        </p:spPr>
        <p:txBody>
          <a:bodyPr>
            <a:norm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[Project Title]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721114"/>
            <a:ext cx="6400800" cy="609600"/>
          </a:xfrm>
        </p:spPr>
        <p:txBody>
          <a:bodyPr>
            <a:normAutofit/>
          </a:bodyPr>
          <a:lstStyle/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Postgraduate Final Viva Presentation</a:t>
            </a: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Computer Science / Data Science Project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2057400" y="5715000"/>
            <a:ext cx="4495800" cy="732622"/>
          </a:xfrm>
          <a:prstGeom prst="rect">
            <a:avLst/>
          </a:prstGeom>
          <a:solidFill>
            <a:srgbClr val="FFFF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04800" y="3429000"/>
            <a:ext cx="845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</a:rPr>
              <a:t>By</a:t>
            </a:r>
          </a:p>
          <a:p>
            <a:pPr algn="ctr"/>
            <a:r>
              <a:rPr sz="1800" b="0">
                <a:solidFill>
                  <a:srgbClr val="FFFFFF"/>
                </a:solidFill>
                <a:latin typeface="Arial"/>
              </a:rPr>
              <a:t>[Student Name]</a:t>
            </a:r>
          </a:p>
          <a:p>
            <a:pPr algn="ctr"/>
            <a:r>
              <a:rPr sz="1800" b="0">
                <a:solidFill>
                  <a:srgbClr val="FFFFFF"/>
                </a:solidFill>
                <a:latin typeface="Arial"/>
              </a:rPr>
              <a:t>[Programme] | Supervisor: [Name] | [Date]</a:t>
            </a:r>
          </a:p>
        </p:txBody>
      </p:sp>
    </p:spTree>
    <p:extLst>
      <p:ext uri="{BB962C8B-B14F-4D97-AF65-F5344CB8AC3E}">
        <p14:creationId xmlns:p14="http://schemas.microsoft.com/office/powerpoint/2010/main" val="920692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0">
                <a:solidFill>
                  <a:srgbClr val="FFFFFF"/>
                </a:solidFill>
                <a:latin typeface="Arial"/>
              </a:rPr>
              <a:t>Presentation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495800"/>
          </a:xfrm>
        </p:spPr>
        <p:txBody>
          <a:bodyPr wrap="square">
            <a:normAutofit/>
          </a:bodyPr>
          <a:lstStyle/>
          <a:p>
            <a:pPr marL="0" indent="0">
              <a:spcAft>
                <a:spcPts val="600"/>
              </a:spcAft>
              <a:buNone/>
              <a:defRPr sz="2100">
                <a:solidFill>
                  <a:srgbClr val="232323"/>
                </a:solidFill>
                <a:latin typeface="Arial"/>
              </a:defRPr>
            </a:pPr>
            <a:r>
              <a:t>Background and problem context</a:t>
            </a:r>
            <a:endParaRPr lang="en-GB" sz="2400" dirty="0"/>
          </a:p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Aim, objectives and research questions</a:t>
            </a:r>
          </a:p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Related work and identified gap</a:t>
            </a:r>
          </a:p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Methodology, system/model design and implementation</a:t>
            </a:r>
          </a:p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Results, contribution, conclusion and references</a:t>
            </a:r>
          </a:p>
          <a:p>
            <a:pPr lvl="1">
              <a:spcAft>
                <a:spcPts val="6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t>10-minute guide: aim for 45–50 seconds per main slide.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FD3DDBF2-094B-4CA4-965C-FB22D307DBD7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08460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0">
                <a:solidFill>
                  <a:srgbClr val="FFFFFF"/>
                </a:solidFill>
                <a:latin typeface="Arial"/>
              </a:rPr>
              <a:t>Background and Problem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Briefly introduce the application domain or research area.</a:t>
            </a:r>
          </a:p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Explain the real-world or technical problem being addressed.</a:t>
            </a:r>
          </a:p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State who/what is affected and why the problem matters.</a:t>
            </a:r>
          </a:p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End with one clear problem statement.</a:t>
            </a:r>
          </a:p>
          <a:p>
            <a:pPr lvl="1">
              <a:spcAft>
                <a:spcPts val="6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t>Keep this slide simple: no long history, only the motivation.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0">
                <a:solidFill>
                  <a:srgbClr val="FFFFFF"/>
                </a:solidFill>
                <a:latin typeface="Arial"/>
              </a:rPr>
              <a:t>Aim, Objectives &amp;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Overall aim: “This project aims to…”</a:t>
            </a:r>
          </a:p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List 3–4 specific objectives linked to the work actually done.</a:t>
            </a:r>
          </a:p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Present the research questions or hypotheses, if applicable.</a:t>
            </a:r>
          </a:p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Define the project scope and what is intentionally excluded.</a:t>
            </a:r>
          </a:p>
          <a:p>
            <a:pPr lvl="1">
              <a:spcAft>
                <a:spcPts val="6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t>Make sure each objective can be defended with evidence later.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0">
                <a:solidFill>
                  <a:srgbClr val="FFFFFF"/>
                </a:solidFill>
                <a:latin typeface="Arial"/>
              </a:rPr>
              <a:t>Related Work and Identified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Summarise 3–5 key papers, systems, datasets or methods.</a:t>
            </a:r>
          </a:p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Highlight what existing studies/systems do well.</a:t>
            </a:r>
          </a:p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Identify the gap: method, data, usability, context, accuracy or deployment.</a:t>
            </a:r>
          </a:p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Show how your project responds to that gap.</a:t>
            </a:r>
          </a:p>
          <a:p>
            <a:pPr lvl="1">
              <a:spcAft>
                <a:spcPts val="6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t>Use a small comparison table if it improves clarity.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0">
                <a:solidFill>
                  <a:srgbClr val="FFFFFF"/>
                </a:solidFill>
                <a:latin typeface="Arial"/>
              </a:rPr>
              <a:t>Methodology / Project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State the project methodology: experimental, design science, CRISP-DM, SDLC, mixed method, etc.</a:t>
            </a:r>
          </a:p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Describe data collection/source, sampling and preprocessing.</a:t>
            </a:r>
          </a:p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Summarise the project phases: requirements, design, implementation and evaluation.</a:t>
            </a:r>
          </a:p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Mention ethical approval, consent, privacy or data protection where relevant.</a:t>
            </a:r>
          </a:p>
          <a:p>
            <a:pPr lvl="1">
              <a:spcAft>
                <a:spcPts val="6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t>Focus on reproducibility: what steps did you follow?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0">
                <a:solidFill>
                  <a:srgbClr val="FFFFFF"/>
                </a:solidFill>
                <a:latin typeface="Arial"/>
              </a:rPr>
              <a:t>System / Model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Insert the architecture, workflow or data pipeline diagram here.</a:t>
            </a:r>
          </a:p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Identify the main modules, components, users or data flows.</a:t>
            </a:r>
          </a:p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State the selected algorithms, models, frameworks or system architecture.</a:t>
            </a:r>
          </a:p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Explain why the design choices are suitable for the problem.</a:t>
            </a:r>
          </a:p>
          <a:p>
            <a:pPr lvl="1">
              <a:spcAft>
                <a:spcPts val="6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t>The panel should understand your solution before seeing results.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0">
                <a:solidFill>
                  <a:srgbClr val="FFFFFF"/>
                </a:solidFill>
                <a:latin typeface="Arial"/>
              </a:rPr>
              <a:t>Implementation Work Done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List tools, platforms, languages, libraries and development environment.</a:t>
            </a:r>
          </a:p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Show key implementation steps completed so far.</a:t>
            </a:r>
          </a:p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Include 1–2 screenshots, prototype views or code/output samples.</a:t>
            </a:r>
          </a:p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Mention major challenges and how they were resolved.</a:t>
            </a:r>
          </a:p>
          <a:p>
            <a:pPr lvl="1">
              <a:spcAft>
                <a:spcPts val="6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t>Do not demo everything; select evidence of real progress.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0">
                <a:solidFill>
                  <a:srgbClr val="FFFFFF"/>
                </a:solidFill>
                <a:latin typeface="Arial"/>
              </a:rPr>
              <a:t>Results and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Present the most important results only.</a:t>
            </a:r>
          </a:p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Use suitable metrics: accuracy, precision, recall, F1, RMSE, latency, usability score, etc.</a:t>
            </a:r>
          </a:p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Compare baseline/current approach with your proposed approach where possible.</a:t>
            </a:r>
          </a:p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Use one clear chart/table and explain the meaning, not just the numbers.</a:t>
            </a:r>
          </a:p>
          <a:p>
            <a:pPr lvl="1">
              <a:spcAft>
                <a:spcPts val="6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t>Avoid dumping raw output; interpret the results.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0">
                <a:solidFill>
                  <a:srgbClr val="FFFFFF"/>
                </a:solidFill>
                <a:latin typeface="Arial"/>
              </a:rPr>
              <a:t>Contribution and Significance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Explain what the findings/results mean in relation to the objectives.</a:t>
            </a:r>
          </a:p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State the technical or scientific contribution.</a:t>
            </a:r>
          </a:p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State the practical contribution to users, organisations or society.</a:t>
            </a:r>
          </a:p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Show what is new, improved or contextually useful about the work.</a:t>
            </a:r>
          </a:p>
          <a:p>
            <a:pPr lvl="1">
              <a:spcAft>
                <a:spcPts val="6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t>Connect this slide back to the original problem.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0">
                <a:solidFill>
                  <a:srgbClr val="FFFFFF"/>
                </a:solidFill>
                <a:latin typeface="Arial"/>
              </a:rPr>
              <a:t>Conclusion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Acknowledge 2–3 limitations honestly and briefly.</a:t>
            </a:r>
          </a:p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Give one strong concluding statement about what the project has achieved.</a:t>
            </a:r>
          </a:p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List immediate tasks remaining before final submission.</a:t>
            </a:r>
          </a:p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Mention future research, deployment or improvement opportunities.</a:t>
            </a:r>
          </a:p>
          <a:p>
            <a:pPr lvl="1">
              <a:spcAft>
                <a:spcPts val="6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t>End confidently: do not apologise for unfinished work.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0">
                <a:solidFill>
                  <a:srgbClr val="FFFFFF"/>
                </a:solidFill>
                <a:latin typeface="Arial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Use one consistent referencing style: APA, IEEE or the department’s required style.</a:t>
            </a:r>
          </a:p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Include 6–10 key sources that directly support the work presented.</a:t>
            </a:r>
          </a:p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Cite datasets, software documentation, frameworks and standards where used.</a:t>
            </a:r>
          </a:p>
          <a:p>
            <a:pPr>
              <a:spcAft>
                <a:spcPts val="6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Ensure every in-slide citation appears here and every listed source was used.</a:t>
            </a:r>
          </a:p>
          <a:p>
            <a:pPr lvl="1">
              <a:spcAft>
                <a:spcPts val="6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t>Keep references readable; do not overcrowd the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3200</TotalTime>
  <Words>9</Words>
  <Application>Microsoft Macintosh PowerPoint</Application>
  <PresentationFormat>On-screen Show (4:3)</PresentationFormat>
  <Paragraphs>10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Myriad Pro</vt:lpstr>
      <vt:lpstr>Tw Cen MT</vt:lpstr>
      <vt:lpstr>Office Theme</vt:lpstr>
      <vt:lpstr>Title</vt:lpstr>
      <vt:lpstr>Outline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title</dc:title>
  <dc:creator>Nana Yaw Akuamoah</dc:creator>
  <cp:lastModifiedBy>Solomon Mensah</cp:lastModifiedBy>
  <cp:revision>171</cp:revision>
  <dcterms:created xsi:type="dcterms:W3CDTF">2011-06-07T13:56:57Z</dcterms:created>
  <dcterms:modified xsi:type="dcterms:W3CDTF">2026-09-13T22:02:23Z</dcterms:modified>
</cp:coreProperties>
</file>